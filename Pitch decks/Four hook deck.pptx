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nva Sans" panose="020B0604020202020204" charset="0"/>
      <p:regular r:id="rId20"/>
    </p:embeddedFont>
    <p:embeddedFont>
      <p:font typeface="Cooper BT Light" panose="020B0604020202020204" charset="0"/>
      <p:regular r:id="rId21"/>
    </p:embeddedFont>
    <p:embeddedFont>
      <p:font typeface="Genty" panose="020B0604020202020204" charset="0"/>
      <p:regular r:id="rId22"/>
    </p:embeddedFont>
    <p:embeddedFont>
      <p:font typeface="Poppins" panose="020B0604020202020204" charset="0"/>
      <p:regular r:id="rId23"/>
    </p:embeddedFont>
    <p:embeddedFont>
      <p:font typeface="Poppi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Hook: SaleSayar AI is the seller operations workspace for Myanmar’s chat-led commerce. The phrase ‘controlled workflow’ reflects the product requirement that AI drafts remain editable and seller-approved before saving.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Problem: chat-led sellers manage order details, payment evidence, and expenses across disconnected surfaces. The deck frames operational fragmentation without inventing a quantified pain frequency.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Who hurts: the initial beachhead is independent Facebook and TikTok sellers, especially shops where sales and operations are managed by a small team.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2.png"/><Relationship Id="rId7" Type="http://schemas.openxmlformats.org/officeDocument/2006/relationships/image" Target="../media/image4.sv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4.png"/><Relationship Id="rId5" Type="http://schemas.openxmlformats.org/officeDocument/2006/relationships/image" Target="../media/image2.sv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5.png"/><Relationship Id="rId7" Type="http://schemas.openxmlformats.org/officeDocument/2006/relationships/image" Target="../media/image4.sv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openxmlformats.org/officeDocument/2006/relationships/image" Target="../media/image2.svg"/><Relationship Id="rId10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Relationship Id="rId1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11" Type="http://schemas.openxmlformats.org/officeDocument/2006/relationships/image" Target="../media/image11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11.pn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svg"/><Relationship Id="rId3" Type="http://schemas.openxmlformats.org/officeDocument/2006/relationships/image" Target="../media/image52.png"/><Relationship Id="rId7" Type="http://schemas.openxmlformats.org/officeDocument/2006/relationships/image" Target="../media/image56.svg"/><Relationship Id="rId12" Type="http://schemas.openxmlformats.org/officeDocument/2006/relationships/image" Target="../media/image6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5" Type="http://schemas.openxmlformats.org/officeDocument/2006/relationships/image" Target="../media/image7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png"/><Relationship Id="rId18" Type="http://schemas.openxmlformats.org/officeDocument/2006/relationships/image" Target="../media/image7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svg"/><Relationship Id="rId17" Type="http://schemas.openxmlformats.org/officeDocument/2006/relationships/image" Target="../media/image77.png"/><Relationship Id="rId2" Type="http://schemas.openxmlformats.org/officeDocument/2006/relationships/image" Target="../media/image23.png"/><Relationship Id="rId16" Type="http://schemas.openxmlformats.org/officeDocument/2006/relationships/image" Target="../media/image76.sv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sv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svg"/><Relationship Id="rId19" Type="http://schemas.openxmlformats.org/officeDocument/2006/relationships/image" Target="../media/image11.png"/><Relationship Id="rId4" Type="http://schemas.openxmlformats.org/officeDocument/2006/relationships/image" Target="../media/image64.svg"/><Relationship Id="rId9" Type="http://schemas.openxmlformats.org/officeDocument/2006/relationships/image" Target="../media/image69.png"/><Relationship Id="rId14" Type="http://schemas.openxmlformats.org/officeDocument/2006/relationships/image" Target="../media/image7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9.png"/><Relationship Id="rId7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jpe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6.sv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58664" y="8530342"/>
            <a:ext cx="4856521" cy="4114800"/>
          </a:xfrm>
          <a:custGeom>
            <a:avLst/>
            <a:gdLst/>
            <a:ahLst/>
            <a:cxnLst/>
            <a:rect l="l" t="t" r="r" b="b"/>
            <a:pathLst>
              <a:path w="4856521" h="4114800">
                <a:moveTo>
                  <a:pt x="0" y="0"/>
                </a:moveTo>
                <a:lnTo>
                  <a:pt x="4856522" y="0"/>
                </a:lnTo>
                <a:lnTo>
                  <a:pt x="48565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3" b="-103"/>
            </a:stretch>
          </a:blipFill>
        </p:spPr>
      </p:sp>
      <p:sp>
        <p:nvSpPr>
          <p:cNvPr id="3" name="Freeform 3"/>
          <p:cNvSpPr/>
          <p:nvPr/>
        </p:nvSpPr>
        <p:spPr>
          <a:xfrm rot="8345640">
            <a:off x="-2428265" y="-1525210"/>
            <a:ext cx="4856521" cy="4114800"/>
          </a:xfrm>
          <a:custGeom>
            <a:avLst/>
            <a:gdLst/>
            <a:ahLst/>
            <a:cxnLst/>
            <a:rect l="l" t="t" r="r" b="b"/>
            <a:pathLst>
              <a:path w="4856521" h="4114800">
                <a:moveTo>
                  <a:pt x="0" y="0"/>
                </a:moveTo>
                <a:lnTo>
                  <a:pt x="4856521" y="0"/>
                </a:lnTo>
                <a:lnTo>
                  <a:pt x="48565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3" b="-103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247988" y="8477976"/>
            <a:ext cx="7792014" cy="38079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" name="Freeform 5"/>
          <p:cNvSpPr/>
          <p:nvPr/>
        </p:nvSpPr>
        <p:spPr>
          <a:xfrm>
            <a:off x="15883099" y="5408628"/>
            <a:ext cx="1253299" cy="1112796"/>
          </a:xfrm>
          <a:custGeom>
            <a:avLst/>
            <a:gdLst/>
            <a:ahLst/>
            <a:cxnLst/>
            <a:rect l="l" t="t" r="r" b="b"/>
            <a:pathLst>
              <a:path w="1253299" h="1112796">
                <a:moveTo>
                  <a:pt x="0" y="0"/>
                </a:moveTo>
                <a:lnTo>
                  <a:pt x="1253300" y="0"/>
                </a:lnTo>
                <a:lnTo>
                  <a:pt x="1253300" y="1112797"/>
                </a:lnTo>
                <a:lnTo>
                  <a:pt x="0" y="1112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6" r="-8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193491" y="5648763"/>
            <a:ext cx="632527" cy="632527"/>
            <a:chOff x="0" y="0"/>
            <a:chExt cx="843369" cy="8433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80" h="843280">
                  <a:moveTo>
                    <a:pt x="421640" y="0"/>
                  </a:moveTo>
                  <a:cubicBezTo>
                    <a:pt x="188849" y="0"/>
                    <a:pt x="0" y="188849"/>
                    <a:pt x="0" y="421640"/>
                  </a:cubicBezTo>
                  <a:cubicBezTo>
                    <a:pt x="0" y="654431"/>
                    <a:pt x="188849" y="843280"/>
                    <a:pt x="421640" y="843280"/>
                  </a:cubicBezTo>
                  <a:cubicBezTo>
                    <a:pt x="654431" y="843280"/>
                    <a:pt x="843280" y="654431"/>
                    <a:pt x="843280" y="421640"/>
                  </a:cubicBezTo>
                  <a:cubicBezTo>
                    <a:pt x="843280" y="188849"/>
                    <a:pt x="654558" y="0"/>
                    <a:pt x="421640" y="0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11" r="-78322" b="-1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1651892" y="6521425"/>
            <a:ext cx="1020385" cy="905999"/>
          </a:xfrm>
          <a:custGeom>
            <a:avLst/>
            <a:gdLst/>
            <a:ahLst/>
            <a:cxnLst/>
            <a:rect l="l" t="t" r="r" b="b"/>
            <a:pathLst>
              <a:path w="1020385" h="905999">
                <a:moveTo>
                  <a:pt x="0" y="0"/>
                </a:moveTo>
                <a:lnTo>
                  <a:pt x="1020385" y="0"/>
                </a:lnTo>
                <a:lnTo>
                  <a:pt x="1020385" y="905999"/>
                </a:lnTo>
                <a:lnTo>
                  <a:pt x="0" y="9059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55" b="-55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902824" y="6715163"/>
            <a:ext cx="518522" cy="518522"/>
            <a:chOff x="0" y="0"/>
            <a:chExt cx="691363" cy="6913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1388" cy="691388"/>
            </a:xfrm>
            <a:custGeom>
              <a:avLst/>
              <a:gdLst/>
              <a:ahLst/>
              <a:cxnLst/>
              <a:rect l="l" t="t" r="r" b="b"/>
              <a:pathLst>
                <a:path w="691388" h="691388">
                  <a:moveTo>
                    <a:pt x="345694" y="0"/>
                  </a:moveTo>
                  <a:cubicBezTo>
                    <a:pt x="154813" y="0"/>
                    <a:pt x="0" y="154813"/>
                    <a:pt x="0" y="345694"/>
                  </a:cubicBezTo>
                  <a:cubicBezTo>
                    <a:pt x="0" y="536575"/>
                    <a:pt x="154813" y="691388"/>
                    <a:pt x="345694" y="691388"/>
                  </a:cubicBezTo>
                  <a:cubicBezTo>
                    <a:pt x="536575" y="691388"/>
                    <a:pt x="691388" y="536575"/>
                    <a:pt x="691388" y="345694"/>
                  </a:cubicBezTo>
                  <a:cubicBezTo>
                    <a:pt x="691388" y="154813"/>
                    <a:pt x="536575" y="0"/>
                    <a:pt x="345694" y="0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0" r="-78297" b="3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>
            <a:off x="-85438" y="0"/>
            <a:ext cx="18432786" cy="10592849"/>
          </a:xfrm>
          <a:custGeom>
            <a:avLst/>
            <a:gdLst/>
            <a:ahLst/>
            <a:cxnLst/>
            <a:rect l="l" t="t" r="r" b="b"/>
            <a:pathLst>
              <a:path w="18432786" h="10592849">
                <a:moveTo>
                  <a:pt x="0" y="0"/>
                </a:moveTo>
                <a:lnTo>
                  <a:pt x="18432786" y="0"/>
                </a:lnTo>
                <a:lnTo>
                  <a:pt x="18432786" y="10592849"/>
                </a:lnTo>
                <a:lnTo>
                  <a:pt x="0" y="105928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82" r="-1082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0"/>
            <a:ext cx="1651892" cy="1265721"/>
          </a:xfrm>
          <a:custGeom>
            <a:avLst/>
            <a:gdLst/>
            <a:ahLst/>
            <a:cxnLst/>
            <a:rect l="l" t="t" r="r" b="b"/>
            <a:pathLst>
              <a:path w="1651892" h="1265721">
                <a:moveTo>
                  <a:pt x="0" y="0"/>
                </a:moveTo>
                <a:lnTo>
                  <a:pt x="1651892" y="0"/>
                </a:lnTo>
                <a:lnTo>
                  <a:pt x="1651892" y="1265721"/>
                </a:lnTo>
                <a:lnTo>
                  <a:pt x="0" y="12657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788843" y="8671129"/>
            <a:ext cx="582155" cy="491921"/>
          </a:xfrm>
          <a:custGeom>
            <a:avLst/>
            <a:gdLst/>
            <a:ahLst/>
            <a:cxnLst/>
            <a:rect l="l" t="t" r="r" b="b"/>
            <a:pathLst>
              <a:path w="582155" h="491921">
                <a:moveTo>
                  <a:pt x="0" y="0"/>
                </a:moveTo>
                <a:lnTo>
                  <a:pt x="582155" y="0"/>
                </a:lnTo>
                <a:lnTo>
                  <a:pt x="582155" y="491921"/>
                </a:lnTo>
                <a:lnTo>
                  <a:pt x="0" y="491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52502" y="1738995"/>
            <a:ext cx="11903040" cy="4226032"/>
          </a:xfrm>
          <a:custGeom>
            <a:avLst/>
            <a:gdLst/>
            <a:ahLst/>
            <a:cxnLst/>
            <a:rect l="l" t="t" r="r" b="b"/>
            <a:pathLst>
              <a:path w="11903040" h="4226032">
                <a:moveTo>
                  <a:pt x="0" y="0"/>
                </a:moveTo>
                <a:lnTo>
                  <a:pt x="11903040" y="0"/>
                </a:lnTo>
                <a:lnTo>
                  <a:pt x="11903040" y="4226031"/>
                </a:lnTo>
                <a:lnTo>
                  <a:pt x="0" y="42260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6063851" y="8497016"/>
            <a:ext cx="6021151" cy="19039"/>
          </a:xfrm>
          <a:prstGeom prst="line">
            <a:avLst/>
          </a:prstGeom>
          <a:ln w="38100" cap="flat">
            <a:solidFill>
              <a:srgbClr val="221B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2249230" y="5756839"/>
            <a:ext cx="9109583" cy="61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010" b="1" spc="-239">
                <a:solidFill>
                  <a:srgbClr val="0A59BE"/>
                </a:solidFill>
                <a:latin typeface="Poppins Bold"/>
                <a:ea typeface="Poppins Bold"/>
                <a:cs typeface="Poppins Bold"/>
                <a:sym typeface="Poppins Bold"/>
              </a:rPr>
              <a:t>Your Entire Sales Team, Powered by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16105" y="7824727"/>
            <a:ext cx="10242559" cy="49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3210" b="1" spc="-19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Domain : FinTech ( Scenario 3 + 4 )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85926" y="8671129"/>
            <a:ext cx="4902917" cy="4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245" b="1" spc="-19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: Four Hook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76373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21" name="Freeform 21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9432915" cy="10287000"/>
            <a:chOff x="0" y="0"/>
            <a:chExt cx="25910553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0553" cy="13716000"/>
            </a:xfrm>
            <a:custGeom>
              <a:avLst/>
              <a:gdLst/>
              <a:ahLst/>
              <a:cxnLst/>
              <a:rect l="l" t="t" r="r" b="b"/>
              <a:pathLst>
                <a:path w="25910553" h="13716000">
                  <a:moveTo>
                    <a:pt x="0" y="0"/>
                  </a:moveTo>
                  <a:lnTo>
                    <a:pt x="25910553" y="0"/>
                  </a:lnTo>
                  <a:lnTo>
                    <a:pt x="2591055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30" b="-313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775102" y="6801146"/>
            <a:ext cx="4856521" cy="4114800"/>
          </a:xfrm>
          <a:custGeom>
            <a:avLst/>
            <a:gdLst/>
            <a:ahLst/>
            <a:cxnLst/>
            <a:rect l="l" t="t" r="r" b="b"/>
            <a:pathLst>
              <a:path w="4856521" h="4114800">
                <a:moveTo>
                  <a:pt x="0" y="0"/>
                </a:moveTo>
                <a:lnTo>
                  <a:pt x="4856521" y="0"/>
                </a:lnTo>
                <a:lnTo>
                  <a:pt x="48565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3" b="-103"/>
            </a:stretch>
          </a:blipFill>
        </p:spPr>
      </p:sp>
      <p:sp>
        <p:nvSpPr>
          <p:cNvPr id="5" name="Freeform 5"/>
          <p:cNvSpPr/>
          <p:nvPr/>
        </p:nvSpPr>
        <p:spPr>
          <a:xfrm rot="8345640">
            <a:off x="-2428265" y="-1525210"/>
            <a:ext cx="4856521" cy="4114800"/>
          </a:xfrm>
          <a:custGeom>
            <a:avLst/>
            <a:gdLst/>
            <a:ahLst/>
            <a:cxnLst/>
            <a:rect l="l" t="t" r="r" b="b"/>
            <a:pathLst>
              <a:path w="4856521" h="4114800">
                <a:moveTo>
                  <a:pt x="0" y="0"/>
                </a:moveTo>
                <a:lnTo>
                  <a:pt x="4856521" y="0"/>
                </a:lnTo>
                <a:lnTo>
                  <a:pt x="48565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3" b="-10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38915" y="1486186"/>
            <a:ext cx="1020385" cy="905999"/>
          </a:xfrm>
          <a:custGeom>
            <a:avLst/>
            <a:gdLst/>
            <a:ahLst/>
            <a:cxnLst/>
            <a:rect l="l" t="t" r="r" b="b"/>
            <a:pathLst>
              <a:path w="1020385" h="905999">
                <a:moveTo>
                  <a:pt x="0" y="0"/>
                </a:moveTo>
                <a:lnTo>
                  <a:pt x="1020385" y="0"/>
                </a:lnTo>
                <a:lnTo>
                  <a:pt x="1020385" y="905999"/>
                </a:lnTo>
                <a:lnTo>
                  <a:pt x="0" y="905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55" b="-55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489842" y="1679924"/>
            <a:ext cx="518522" cy="518522"/>
            <a:chOff x="0" y="0"/>
            <a:chExt cx="691363" cy="6913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1388" cy="691388"/>
            </a:xfrm>
            <a:custGeom>
              <a:avLst/>
              <a:gdLst/>
              <a:ahLst/>
              <a:cxnLst/>
              <a:rect l="l" t="t" r="r" b="b"/>
              <a:pathLst>
                <a:path w="691388" h="691388">
                  <a:moveTo>
                    <a:pt x="345694" y="0"/>
                  </a:moveTo>
                  <a:cubicBezTo>
                    <a:pt x="154813" y="0"/>
                    <a:pt x="0" y="154813"/>
                    <a:pt x="0" y="345694"/>
                  </a:cubicBezTo>
                  <a:cubicBezTo>
                    <a:pt x="0" y="536575"/>
                    <a:pt x="154813" y="691388"/>
                    <a:pt x="345694" y="691388"/>
                  </a:cubicBezTo>
                  <a:cubicBezTo>
                    <a:pt x="536575" y="691388"/>
                    <a:pt x="691388" y="536575"/>
                    <a:pt x="691388" y="345694"/>
                  </a:cubicBezTo>
                  <a:cubicBezTo>
                    <a:pt x="691388" y="154813"/>
                    <a:pt x="536575" y="0"/>
                    <a:pt x="345694" y="0"/>
                  </a:cubicBez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0" r="-78297" b="3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805739" y="3072442"/>
            <a:ext cx="4311669" cy="2200637"/>
            <a:chOff x="0" y="0"/>
            <a:chExt cx="1346671" cy="6873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6671" cy="687329"/>
            </a:xfrm>
            <a:custGeom>
              <a:avLst/>
              <a:gdLst/>
              <a:ahLst/>
              <a:cxnLst/>
              <a:rect l="l" t="t" r="r" b="b"/>
              <a:pathLst>
                <a:path w="1346671" h="687329">
                  <a:moveTo>
                    <a:pt x="91574" y="0"/>
                  </a:moveTo>
                  <a:lnTo>
                    <a:pt x="1255096" y="0"/>
                  </a:lnTo>
                  <a:cubicBezTo>
                    <a:pt x="1279383" y="0"/>
                    <a:pt x="1302676" y="9648"/>
                    <a:pt x="1319849" y="26821"/>
                  </a:cubicBezTo>
                  <a:cubicBezTo>
                    <a:pt x="1337023" y="43995"/>
                    <a:pt x="1346671" y="67287"/>
                    <a:pt x="1346671" y="91574"/>
                  </a:cubicBezTo>
                  <a:lnTo>
                    <a:pt x="1346671" y="595754"/>
                  </a:lnTo>
                  <a:cubicBezTo>
                    <a:pt x="1346671" y="620041"/>
                    <a:pt x="1337023" y="643334"/>
                    <a:pt x="1319849" y="660507"/>
                  </a:cubicBezTo>
                  <a:cubicBezTo>
                    <a:pt x="1302676" y="677681"/>
                    <a:pt x="1279383" y="687329"/>
                    <a:pt x="1255096" y="687329"/>
                  </a:cubicBezTo>
                  <a:lnTo>
                    <a:pt x="91574" y="687329"/>
                  </a:lnTo>
                  <a:cubicBezTo>
                    <a:pt x="67287" y="687329"/>
                    <a:pt x="43995" y="677681"/>
                    <a:pt x="26821" y="660507"/>
                  </a:cubicBezTo>
                  <a:cubicBezTo>
                    <a:pt x="9648" y="643334"/>
                    <a:pt x="0" y="620041"/>
                    <a:pt x="0" y="595754"/>
                  </a:cubicBezTo>
                  <a:lnTo>
                    <a:pt x="0" y="91574"/>
                  </a:lnTo>
                  <a:cubicBezTo>
                    <a:pt x="0" y="67287"/>
                    <a:pt x="9648" y="43995"/>
                    <a:pt x="26821" y="26821"/>
                  </a:cubicBezTo>
                  <a:cubicBezTo>
                    <a:pt x="43995" y="9648"/>
                    <a:pt x="67287" y="0"/>
                    <a:pt x="91574" y="0"/>
                  </a:cubicBezTo>
                  <a:close/>
                </a:path>
              </a:pathLst>
            </a:custGeom>
            <a:solidFill>
              <a:srgbClr val="FFF27D">
                <a:alpha val="8000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346671" cy="782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68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515994" y="3072442"/>
            <a:ext cx="7669388" cy="4767647"/>
          </a:xfrm>
          <a:custGeom>
            <a:avLst/>
            <a:gdLst/>
            <a:ahLst/>
            <a:cxnLst/>
            <a:rect l="l" t="t" r="r" b="b"/>
            <a:pathLst>
              <a:path w="7669388" h="4767647">
                <a:moveTo>
                  <a:pt x="0" y="0"/>
                </a:moveTo>
                <a:lnTo>
                  <a:pt x="7669388" y="0"/>
                </a:lnTo>
                <a:lnTo>
                  <a:pt x="7669388" y="4767647"/>
                </a:lnTo>
                <a:lnTo>
                  <a:pt x="0" y="47676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8545" b="-12101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741890" y="120846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4"/>
          <p:cNvGrpSpPr/>
          <p:nvPr/>
        </p:nvGrpSpPr>
        <p:grpSpPr>
          <a:xfrm>
            <a:off x="2715958" y="5639452"/>
            <a:ext cx="4311669" cy="2200637"/>
            <a:chOff x="0" y="0"/>
            <a:chExt cx="1346671" cy="6873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6671" cy="687329"/>
            </a:xfrm>
            <a:custGeom>
              <a:avLst/>
              <a:gdLst/>
              <a:ahLst/>
              <a:cxnLst/>
              <a:rect l="l" t="t" r="r" b="b"/>
              <a:pathLst>
                <a:path w="1346671" h="687329">
                  <a:moveTo>
                    <a:pt x="91574" y="0"/>
                  </a:moveTo>
                  <a:lnTo>
                    <a:pt x="1255096" y="0"/>
                  </a:lnTo>
                  <a:cubicBezTo>
                    <a:pt x="1279383" y="0"/>
                    <a:pt x="1302676" y="9648"/>
                    <a:pt x="1319849" y="26821"/>
                  </a:cubicBezTo>
                  <a:cubicBezTo>
                    <a:pt x="1337023" y="43995"/>
                    <a:pt x="1346671" y="67287"/>
                    <a:pt x="1346671" y="91574"/>
                  </a:cubicBezTo>
                  <a:lnTo>
                    <a:pt x="1346671" y="595754"/>
                  </a:lnTo>
                  <a:cubicBezTo>
                    <a:pt x="1346671" y="620041"/>
                    <a:pt x="1337023" y="643334"/>
                    <a:pt x="1319849" y="660507"/>
                  </a:cubicBezTo>
                  <a:cubicBezTo>
                    <a:pt x="1302676" y="677681"/>
                    <a:pt x="1279383" y="687329"/>
                    <a:pt x="1255096" y="687329"/>
                  </a:cubicBezTo>
                  <a:lnTo>
                    <a:pt x="91574" y="687329"/>
                  </a:lnTo>
                  <a:cubicBezTo>
                    <a:pt x="67287" y="687329"/>
                    <a:pt x="43995" y="677681"/>
                    <a:pt x="26821" y="660507"/>
                  </a:cubicBezTo>
                  <a:cubicBezTo>
                    <a:pt x="9648" y="643334"/>
                    <a:pt x="0" y="620041"/>
                    <a:pt x="0" y="595754"/>
                  </a:cubicBezTo>
                  <a:lnTo>
                    <a:pt x="0" y="91574"/>
                  </a:lnTo>
                  <a:cubicBezTo>
                    <a:pt x="0" y="67287"/>
                    <a:pt x="9648" y="43995"/>
                    <a:pt x="26821" y="26821"/>
                  </a:cubicBezTo>
                  <a:cubicBezTo>
                    <a:pt x="43995" y="9648"/>
                    <a:pt x="67287" y="0"/>
                    <a:pt x="91574" y="0"/>
                  </a:cubicBezTo>
                  <a:close/>
                </a:path>
              </a:pathLst>
            </a:custGeom>
            <a:solidFill>
              <a:srgbClr val="38B6FF">
                <a:alpha val="8000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346671" cy="782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68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327125" y="8188789"/>
            <a:ext cx="840685" cy="739803"/>
          </a:xfrm>
          <a:custGeom>
            <a:avLst/>
            <a:gdLst/>
            <a:ahLst/>
            <a:cxnLst/>
            <a:rect l="l" t="t" r="r" b="b"/>
            <a:pathLst>
              <a:path w="840685" h="739803">
                <a:moveTo>
                  <a:pt x="0" y="0"/>
                </a:moveTo>
                <a:lnTo>
                  <a:pt x="840685" y="0"/>
                </a:lnTo>
                <a:lnTo>
                  <a:pt x="840685" y="739802"/>
                </a:lnTo>
                <a:lnTo>
                  <a:pt x="0" y="7398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82483" y="427577"/>
            <a:ext cx="13582615" cy="314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endParaRPr/>
          </a:p>
          <a:p>
            <a:pPr algn="just">
              <a:lnSpc>
                <a:spcPts val="6177"/>
              </a:lnSpc>
            </a:pPr>
            <a:r>
              <a:rPr lang="en-US" sz="4891" b="1" spc="-322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Thousands of online businesses. Millions of social media users. One seller doing everything.</a:t>
            </a:r>
          </a:p>
          <a:p>
            <a:pPr algn="just">
              <a:lnSpc>
                <a:spcPts val="6177"/>
              </a:lnSpc>
            </a:pPr>
            <a:endParaRPr lang="en-US" sz="4891" b="1" spc="-322">
              <a:solidFill>
                <a:srgbClr val="014D86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250852" y="3268819"/>
            <a:ext cx="3421442" cy="92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sz="5523" b="1" spc="-3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21,088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82888" y="4412945"/>
            <a:ext cx="4433106" cy="7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70" b="1">
                <a:solidFill>
                  <a:srgbClr val="000000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Registered online operators</a:t>
            </a:r>
          </a:p>
          <a:p>
            <a:pPr algn="l">
              <a:lnSpc>
                <a:spcPts val="2882"/>
              </a:lnSpc>
            </a:pPr>
            <a:endParaRPr lang="en-US" sz="2070" b="1">
              <a:solidFill>
                <a:srgbClr val="000000">
                  <a:alpha val="71765"/>
                </a:srgbClr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248461" y="7671412"/>
            <a:ext cx="14752423" cy="184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7"/>
              </a:lnSpc>
            </a:pPr>
            <a:endParaRPr/>
          </a:p>
          <a:p>
            <a:pPr algn="l">
              <a:lnSpc>
                <a:spcPts val="4796"/>
              </a:lnSpc>
            </a:pPr>
            <a:r>
              <a:rPr lang="en-US" sz="3797" b="1" spc="-25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But who manages the chats, orders, payments, and profit?</a:t>
            </a:r>
          </a:p>
          <a:p>
            <a:pPr algn="l">
              <a:lnSpc>
                <a:spcPts val="4875"/>
              </a:lnSpc>
            </a:pPr>
            <a:endParaRPr lang="en-US" sz="3797" b="1" spc="-250">
              <a:solidFill>
                <a:srgbClr val="014D86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200094" y="5924240"/>
            <a:ext cx="3421442" cy="936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2"/>
              </a:lnSpc>
            </a:pPr>
            <a:r>
              <a:rPr lang="en-US" sz="5623" b="1" spc="-37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21.0 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82888" y="7081565"/>
            <a:ext cx="6849834" cy="36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70" b="1">
                <a:solidFill>
                  <a:srgbClr val="000000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Social Media User Identities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74289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26" name="Freeform 26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" y="-63857"/>
            <a:ext cx="18335785" cy="10313879"/>
          </a:xfrm>
          <a:custGeom>
            <a:avLst/>
            <a:gdLst/>
            <a:ahLst/>
            <a:cxnLst/>
            <a:rect l="l" t="t" r="r" b="b"/>
            <a:pathLst>
              <a:path w="18335785" h="10313879">
                <a:moveTo>
                  <a:pt x="0" y="0"/>
                </a:moveTo>
                <a:lnTo>
                  <a:pt x="18335785" y="0"/>
                </a:lnTo>
                <a:lnTo>
                  <a:pt x="18335785" y="10313879"/>
                </a:lnTo>
                <a:lnTo>
                  <a:pt x="0" y="1031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58664" y="8530342"/>
            <a:ext cx="4856521" cy="4114800"/>
          </a:xfrm>
          <a:custGeom>
            <a:avLst/>
            <a:gdLst/>
            <a:ahLst/>
            <a:cxnLst/>
            <a:rect l="l" t="t" r="r" b="b"/>
            <a:pathLst>
              <a:path w="4856521" h="4114800">
                <a:moveTo>
                  <a:pt x="0" y="0"/>
                </a:moveTo>
                <a:lnTo>
                  <a:pt x="4856522" y="0"/>
                </a:lnTo>
                <a:lnTo>
                  <a:pt x="48565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3" b="-103"/>
            </a:stretch>
          </a:blipFill>
        </p:spPr>
      </p:sp>
      <p:sp>
        <p:nvSpPr>
          <p:cNvPr id="4" name="Freeform 4"/>
          <p:cNvSpPr/>
          <p:nvPr/>
        </p:nvSpPr>
        <p:spPr>
          <a:xfrm rot="8345640">
            <a:off x="-2428265" y="-1525210"/>
            <a:ext cx="4856521" cy="4114800"/>
          </a:xfrm>
          <a:custGeom>
            <a:avLst/>
            <a:gdLst/>
            <a:ahLst/>
            <a:cxnLst/>
            <a:rect l="l" t="t" r="r" b="b"/>
            <a:pathLst>
              <a:path w="4856521" h="4114800">
                <a:moveTo>
                  <a:pt x="0" y="0"/>
                </a:moveTo>
                <a:lnTo>
                  <a:pt x="4856521" y="0"/>
                </a:lnTo>
                <a:lnTo>
                  <a:pt x="48565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3" b="-10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38915" y="1486186"/>
            <a:ext cx="1020385" cy="905999"/>
          </a:xfrm>
          <a:custGeom>
            <a:avLst/>
            <a:gdLst/>
            <a:ahLst/>
            <a:cxnLst/>
            <a:rect l="l" t="t" r="r" b="b"/>
            <a:pathLst>
              <a:path w="1020385" h="905999">
                <a:moveTo>
                  <a:pt x="0" y="0"/>
                </a:moveTo>
                <a:lnTo>
                  <a:pt x="1020385" y="0"/>
                </a:lnTo>
                <a:lnTo>
                  <a:pt x="1020385" y="905999"/>
                </a:lnTo>
                <a:lnTo>
                  <a:pt x="0" y="905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55" b="-5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489847" y="1679924"/>
            <a:ext cx="518522" cy="518522"/>
            <a:chOff x="0" y="0"/>
            <a:chExt cx="691363" cy="6913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1388" cy="691388"/>
            </a:xfrm>
            <a:custGeom>
              <a:avLst/>
              <a:gdLst/>
              <a:ahLst/>
              <a:cxnLst/>
              <a:rect l="l" t="t" r="r" b="b"/>
              <a:pathLst>
                <a:path w="691388" h="691388">
                  <a:moveTo>
                    <a:pt x="345694" y="0"/>
                  </a:moveTo>
                  <a:cubicBezTo>
                    <a:pt x="154813" y="0"/>
                    <a:pt x="0" y="154813"/>
                    <a:pt x="0" y="345694"/>
                  </a:cubicBezTo>
                  <a:cubicBezTo>
                    <a:pt x="0" y="536575"/>
                    <a:pt x="154813" y="691388"/>
                    <a:pt x="345694" y="691388"/>
                  </a:cubicBezTo>
                  <a:cubicBezTo>
                    <a:pt x="536575" y="691388"/>
                    <a:pt x="691388" y="536575"/>
                    <a:pt x="691388" y="345694"/>
                  </a:cubicBezTo>
                  <a:cubicBezTo>
                    <a:pt x="691388" y="154813"/>
                    <a:pt x="536575" y="0"/>
                    <a:pt x="345694" y="0"/>
                  </a:cubicBez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0" r="-78297" b="3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014282" y="2033864"/>
            <a:ext cx="2706224" cy="716642"/>
            <a:chOff x="0" y="0"/>
            <a:chExt cx="3608299" cy="9555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8324" cy="955548"/>
            </a:xfrm>
            <a:custGeom>
              <a:avLst/>
              <a:gdLst/>
              <a:ahLst/>
              <a:cxnLst/>
              <a:rect l="l" t="t" r="r" b="b"/>
              <a:pathLst>
                <a:path w="3608324" h="955548">
                  <a:moveTo>
                    <a:pt x="477774" y="0"/>
                  </a:moveTo>
                  <a:lnTo>
                    <a:pt x="3130550" y="0"/>
                  </a:lnTo>
                  <a:cubicBezTo>
                    <a:pt x="3257296" y="0"/>
                    <a:pt x="3378835" y="50292"/>
                    <a:pt x="3468370" y="139954"/>
                  </a:cubicBezTo>
                  <a:cubicBezTo>
                    <a:pt x="3557905" y="229616"/>
                    <a:pt x="3608324" y="351028"/>
                    <a:pt x="3608324" y="477774"/>
                  </a:cubicBezTo>
                  <a:cubicBezTo>
                    <a:pt x="3608324" y="604520"/>
                    <a:pt x="3558032" y="726059"/>
                    <a:pt x="3468370" y="815594"/>
                  </a:cubicBezTo>
                  <a:cubicBezTo>
                    <a:pt x="3378708" y="905129"/>
                    <a:pt x="3257296" y="955548"/>
                    <a:pt x="3130550" y="955548"/>
                  </a:cubicBezTo>
                  <a:lnTo>
                    <a:pt x="477774" y="955548"/>
                  </a:lnTo>
                  <a:cubicBezTo>
                    <a:pt x="351028" y="955548"/>
                    <a:pt x="229489" y="905256"/>
                    <a:pt x="139954" y="815594"/>
                  </a:cubicBezTo>
                  <a:cubicBezTo>
                    <a:pt x="50419" y="725932"/>
                    <a:pt x="0" y="604520"/>
                    <a:pt x="0" y="477774"/>
                  </a:cubicBezTo>
                  <a:cubicBezTo>
                    <a:pt x="0" y="351028"/>
                    <a:pt x="50292" y="229489"/>
                    <a:pt x="139954" y="139954"/>
                  </a:cubicBezTo>
                  <a:cubicBezTo>
                    <a:pt x="229616" y="50419"/>
                    <a:pt x="351028" y="0"/>
                    <a:pt x="477774" y="0"/>
                  </a:cubicBezTo>
                  <a:close/>
                </a:path>
              </a:pathLst>
            </a:custGeom>
            <a:solidFill>
              <a:srgbClr val="03BCD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7671" y="1840125"/>
            <a:ext cx="6859447" cy="7820819"/>
            <a:chOff x="0" y="0"/>
            <a:chExt cx="8106873" cy="92430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06886" cy="9243089"/>
            </a:xfrm>
            <a:custGeom>
              <a:avLst/>
              <a:gdLst/>
              <a:ahLst/>
              <a:cxnLst/>
              <a:rect l="l" t="t" r="r" b="b"/>
              <a:pathLst>
                <a:path w="8106886" h="9243089">
                  <a:moveTo>
                    <a:pt x="294788" y="0"/>
                  </a:moveTo>
                  <a:lnTo>
                    <a:pt x="7812101" y="0"/>
                  </a:lnTo>
                  <a:cubicBezTo>
                    <a:pt x="7890311" y="0"/>
                    <a:pt x="7965280" y="43468"/>
                    <a:pt x="8020504" y="121105"/>
                  </a:cubicBezTo>
                  <a:cubicBezTo>
                    <a:pt x="8075729" y="198741"/>
                    <a:pt x="8106886" y="303843"/>
                    <a:pt x="8106886" y="413270"/>
                  </a:cubicBezTo>
                  <a:lnTo>
                    <a:pt x="8106886" y="8829828"/>
                  </a:lnTo>
                  <a:cubicBezTo>
                    <a:pt x="8106886" y="8939471"/>
                    <a:pt x="8075882" y="9044573"/>
                    <a:pt x="8020504" y="9121994"/>
                  </a:cubicBezTo>
                  <a:cubicBezTo>
                    <a:pt x="7965125" y="9199414"/>
                    <a:pt x="7890156" y="9243089"/>
                    <a:pt x="7812101" y="9243089"/>
                  </a:cubicBezTo>
                  <a:lnTo>
                    <a:pt x="294788" y="9243089"/>
                  </a:lnTo>
                  <a:cubicBezTo>
                    <a:pt x="132045" y="9243089"/>
                    <a:pt x="0" y="9057981"/>
                    <a:pt x="0" y="8829828"/>
                  </a:cubicBezTo>
                  <a:lnTo>
                    <a:pt x="0" y="413270"/>
                  </a:lnTo>
                  <a:cubicBezTo>
                    <a:pt x="0" y="185117"/>
                    <a:pt x="132045" y="0"/>
                    <a:pt x="294788" y="0"/>
                  </a:cubicBezTo>
                  <a:close/>
                </a:path>
              </a:pathLst>
            </a:custGeom>
            <a:solidFill>
              <a:srgbClr val="E3F3FD"/>
            </a:solidFill>
            <a:ln w="38100" cap="sq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5CE1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138388" y="1840125"/>
            <a:ext cx="7054769" cy="7820819"/>
            <a:chOff x="0" y="0"/>
            <a:chExt cx="8337717" cy="92430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37729" cy="9243089"/>
            </a:xfrm>
            <a:custGeom>
              <a:avLst/>
              <a:gdLst/>
              <a:ahLst/>
              <a:cxnLst/>
              <a:rect l="l" t="t" r="r" b="b"/>
              <a:pathLst>
                <a:path w="8337729" h="9243089">
                  <a:moveTo>
                    <a:pt x="303182" y="0"/>
                  </a:moveTo>
                  <a:lnTo>
                    <a:pt x="8034551" y="0"/>
                  </a:lnTo>
                  <a:cubicBezTo>
                    <a:pt x="8114987" y="0"/>
                    <a:pt x="8192091" y="43468"/>
                    <a:pt x="8248888" y="121105"/>
                  </a:cubicBezTo>
                  <a:cubicBezTo>
                    <a:pt x="8305685" y="198741"/>
                    <a:pt x="8337729" y="303843"/>
                    <a:pt x="8337729" y="413270"/>
                  </a:cubicBezTo>
                  <a:lnTo>
                    <a:pt x="8337729" y="8829828"/>
                  </a:lnTo>
                  <a:cubicBezTo>
                    <a:pt x="8337729" y="8939471"/>
                    <a:pt x="8305843" y="9044573"/>
                    <a:pt x="8248888" y="9121994"/>
                  </a:cubicBezTo>
                  <a:cubicBezTo>
                    <a:pt x="8191932" y="9199414"/>
                    <a:pt x="8114828" y="9243089"/>
                    <a:pt x="8034551" y="9243089"/>
                  </a:cubicBezTo>
                  <a:lnTo>
                    <a:pt x="303182" y="9243089"/>
                  </a:lnTo>
                  <a:cubicBezTo>
                    <a:pt x="135805" y="9243089"/>
                    <a:pt x="0" y="9057981"/>
                    <a:pt x="0" y="8829828"/>
                  </a:cubicBezTo>
                  <a:lnTo>
                    <a:pt x="0" y="413270"/>
                  </a:lnTo>
                  <a:cubicBezTo>
                    <a:pt x="0" y="185117"/>
                    <a:pt x="135805" y="0"/>
                    <a:pt x="303182" y="0"/>
                  </a:cubicBezTo>
                  <a:close/>
                </a:path>
              </a:pathLst>
            </a:custGeom>
            <a:solidFill>
              <a:srgbClr val="E0F0FA"/>
            </a:solidFill>
            <a:ln w="38100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248702" y="2026926"/>
            <a:ext cx="2872241" cy="716642"/>
            <a:chOff x="0" y="0"/>
            <a:chExt cx="3829654" cy="9555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29680" cy="955548"/>
            </a:xfrm>
            <a:custGeom>
              <a:avLst/>
              <a:gdLst/>
              <a:ahLst/>
              <a:cxnLst/>
              <a:rect l="l" t="t" r="r" b="b"/>
              <a:pathLst>
                <a:path w="3829680" h="955548">
                  <a:moveTo>
                    <a:pt x="507084" y="0"/>
                  </a:moveTo>
                  <a:lnTo>
                    <a:pt x="3322598" y="0"/>
                  </a:lnTo>
                  <a:cubicBezTo>
                    <a:pt x="3457119" y="0"/>
                    <a:pt x="3586114" y="50292"/>
                    <a:pt x="3681142" y="139954"/>
                  </a:cubicBezTo>
                  <a:cubicBezTo>
                    <a:pt x="3776169" y="229616"/>
                    <a:pt x="3829680" y="351028"/>
                    <a:pt x="3829680" y="477774"/>
                  </a:cubicBezTo>
                  <a:cubicBezTo>
                    <a:pt x="3829680" y="604520"/>
                    <a:pt x="3776304" y="726059"/>
                    <a:pt x="3681142" y="815594"/>
                  </a:cubicBezTo>
                  <a:cubicBezTo>
                    <a:pt x="3585979" y="905129"/>
                    <a:pt x="3457119" y="955548"/>
                    <a:pt x="3322598" y="955548"/>
                  </a:cubicBezTo>
                  <a:lnTo>
                    <a:pt x="507084" y="955548"/>
                  </a:lnTo>
                  <a:cubicBezTo>
                    <a:pt x="372562" y="955548"/>
                    <a:pt x="243567" y="905256"/>
                    <a:pt x="148540" y="815594"/>
                  </a:cubicBezTo>
                  <a:cubicBezTo>
                    <a:pt x="53512" y="725932"/>
                    <a:pt x="0" y="604520"/>
                    <a:pt x="0" y="477774"/>
                  </a:cubicBezTo>
                  <a:cubicBezTo>
                    <a:pt x="0" y="351028"/>
                    <a:pt x="53377" y="229489"/>
                    <a:pt x="148540" y="139954"/>
                  </a:cubicBezTo>
                  <a:cubicBezTo>
                    <a:pt x="243702" y="50419"/>
                    <a:pt x="372562" y="0"/>
                    <a:pt x="507084" y="0"/>
                  </a:cubicBezTo>
                  <a:close/>
                </a:path>
              </a:pathLst>
            </a:custGeom>
            <a:solidFill>
              <a:srgbClr val="03BCD6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386117" y="2980746"/>
            <a:ext cx="5962554" cy="3944218"/>
            <a:chOff x="0" y="0"/>
            <a:chExt cx="1228726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28726" cy="812800"/>
            </a:xfrm>
            <a:custGeom>
              <a:avLst/>
              <a:gdLst/>
              <a:ahLst/>
              <a:cxnLst/>
              <a:rect l="l" t="t" r="r" b="b"/>
              <a:pathLst>
                <a:path w="1228726" h="812800">
                  <a:moveTo>
                    <a:pt x="35057" y="0"/>
                  </a:moveTo>
                  <a:lnTo>
                    <a:pt x="1193669" y="0"/>
                  </a:lnTo>
                  <a:cubicBezTo>
                    <a:pt x="1213030" y="0"/>
                    <a:pt x="1228726" y="15696"/>
                    <a:pt x="1228726" y="35057"/>
                  </a:cubicBezTo>
                  <a:lnTo>
                    <a:pt x="1228726" y="777743"/>
                  </a:lnTo>
                  <a:cubicBezTo>
                    <a:pt x="1228726" y="797104"/>
                    <a:pt x="1213030" y="812800"/>
                    <a:pt x="1193669" y="812800"/>
                  </a:cubicBezTo>
                  <a:lnTo>
                    <a:pt x="35057" y="812800"/>
                  </a:lnTo>
                  <a:cubicBezTo>
                    <a:pt x="15696" y="812800"/>
                    <a:pt x="0" y="797104"/>
                    <a:pt x="0" y="777743"/>
                  </a:cubicBezTo>
                  <a:lnTo>
                    <a:pt x="0" y="35057"/>
                  </a:lnTo>
                  <a:cubicBezTo>
                    <a:pt x="0" y="15696"/>
                    <a:pt x="15696" y="0"/>
                    <a:pt x="35057" y="0"/>
                  </a:cubicBezTo>
                  <a:close/>
                </a:path>
              </a:pathLst>
            </a:custGeom>
            <a:blipFill>
              <a:blip r:embed="rId9"/>
              <a:stretch>
                <a:fillRect t="-6689" b="-668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0786554" y="2915018"/>
            <a:ext cx="5962554" cy="3944218"/>
            <a:chOff x="0" y="0"/>
            <a:chExt cx="1228726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28726" cy="812800"/>
            </a:xfrm>
            <a:custGeom>
              <a:avLst/>
              <a:gdLst/>
              <a:ahLst/>
              <a:cxnLst/>
              <a:rect l="l" t="t" r="r" b="b"/>
              <a:pathLst>
                <a:path w="1228726" h="812800">
                  <a:moveTo>
                    <a:pt x="35057" y="0"/>
                  </a:moveTo>
                  <a:lnTo>
                    <a:pt x="1193669" y="0"/>
                  </a:lnTo>
                  <a:cubicBezTo>
                    <a:pt x="1213030" y="0"/>
                    <a:pt x="1228726" y="15696"/>
                    <a:pt x="1228726" y="35057"/>
                  </a:cubicBezTo>
                  <a:lnTo>
                    <a:pt x="1228726" y="777743"/>
                  </a:lnTo>
                  <a:cubicBezTo>
                    <a:pt x="1228726" y="797104"/>
                    <a:pt x="1213030" y="812800"/>
                    <a:pt x="1193669" y="812800"/>
                  </a:cubicBezTo>
                  <a:lnTo>
                    <a:pt x="35057" y="812800"/>
                  </a:lnTo>
                  <a:cubicBezTo>
                    <a:pt x="15696" y="812800"/>
                    <a:pt x="0" y="797104"/>
                    <a:pt x="0" y="777743"/>
                  </a:cubicBezTo>
                  <a:lnTo>
                    <a:pt x="0" y="35057"/>
                  </a:lnTo>
                  <a:cubicBezTo>
                    <a:pt x="0" y="15696"/>
                    <a:pt x="15696" y="0"/>
                    <a:pt x="35057" y="0"/>
                  </a:cubicBezTo>
                  <a:close/>
                </a:path>
              </a:pathLst>
            </a:custGeom>
            <a:blipFill>
              <a:blip r:embed="rId10"/>
              <a:stretch>
                <a:fillRect l="-8799" r="-879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2910950" y="2026926"/>
            <a:ext cx="2706224" cy="716642"/>
            <a:chOff x="0" y="0"/>
            <a:chExt cx="3608299" cy="9555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08324" cy="955548"/>
            </a:xfrm>
            <a:custGeom>
              <a:avLst/>
              <a:gdLst/>
              <a:ahLst/>
              <a:cxnLst/>
              <a:rect l="l" t="t" r="r" b="b"/>
              <a:pathLst>
                <a:path w="3608324" h="955548">
                  <a:moveTo>
                    <a:pt x="477774" y="0"/>
                  </a:moveTo>
                  <a:lnTo>
                    <a:pt x="3130550" y="0"/>
                  </a:lnTo>
                  <a:cubicBezTo>
                    <a:pt x="3257296" y="0"/>
                    <a:pt x="3378835" y="50292"/>
                    <a:pt x="3468370" y="139954"/>
                  </a:cubicBezTo>
                  <a:cubicBezTo>
                    <a:pt x="3557905" y="229616"/>
                    <a:pt x="3608324" y="351028"/>
                    <a:pt x="3608324" y="477774"/>
                  </a:cubicBezTo>
                  <a:cubicBezTo>
                    <a:pt x="3608324" y="604520"/>
                    <a:pt x="3558032" y="726059"/>
                    <a:pt x="3468370" y="815594"/>
                  </a:cubicBezTo>
                  <a:cubicBezTo>
                    <a:pt x="3378708" y="905129"/>
                    <a:pt x="3257296" y="955548"/>
                    <a:pt x="3130550" y="955548"/>
                  </a:cubicBezTo>
                  <a:lnTo>
                    <a:pt x="477774" y="955548"/>
                  </a:lnTo>
                  <a:cubicBezTo>
                    <a:pt x="351028" y="955548"/>
                    <a:pt x="229489" y="905256"/>
                    <a:pt x="139954" y="815594"/>
                  </a:cubicBezTo>
                  <a:cubicBezTo>
                    <a:pt x="50419" y="725932"/>
                    <a:pt x="0" y="604520"/>
                    <a:pt x="0" y="477774"/>
                  </a:cubicBezTo>
                  <a:cubicBezTo>
                    <a:pt x="0" y="351028"/>
                    <a:pt x="50292" y="229489"/>
                    <a:pt x="139954" y="139954"/>
                  </a:cubicBezTo>
                  <a:cubicBezTo>
                    <a:pt x="229616" y="50419"/>
                    <a:pt x="351028" y="0"/>
                    <a:pt x="477774" y="0"/>
                  </a:cubicBezTo>
                  <a:close/>
                </a:path>
              </a:pathLst>
            </a:custGeom>
            <a:solidFill>
              <a:srgbClr val="03BCD6"/>
            </a:solidFill>
          </p:spPr>
        </p:sp>
      </p:grpSp>
      <p:sp>
        <p:nvSpPr>
          <p:cNvPr id="22" name="AutoShape 22"/>
          <p:cNvSpPr/>
          <p:nvPr/>
        </p:nvSpPr>
        <p:spPr>
          <a:xfrm flipV="1">
            <a:off x="6894193" y="1486186"/>
            <a:ext cx="43101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581894" y="7127780"/>
            <a:ext cx="5031297" cy="18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❌ Manual Order Collection</a:t>
            </a:r>
          </a:p>
          <a:p>
            <a:pPr algn="l">
              <a:lnSpc>
                <a:spcPts val="5120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❌ Payment Verification Stress</a:t>
            </a:r>
          </a:p>
          <a:p>
            <a:pPr algn="l">
              <a:lnSpc>
                <a:spcPts val="5120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❌ Scattered Sales Records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57943" y="417691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Pain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10950" y="2059541"/>
            <a:ext cx="2647360" cy="63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1652" b="1" spc="1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Order &amp; Payment Friction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42431" y="7127780"/>
            <a:ext cx="6165937" cy="18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❌ Unclear Daily Profit</a:t>
            </a:r>
          </a:p>
          <a:p>
            <a:pPr algn="l">
              <a:lnSpc>
                <a:spcPts val="5120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❌ Untracked Business Expenses</a:t>
            </a:r>
          </a:p>
          <a:p>
            <a:pPr algn="l">
              <a:lnSpc>
                <a:spcPts val="5120"/>
              </a:lnSpc>
            </a:pPr>
            <a:r>
              <a:rPr lang="en-US" sz="2048" b="1" spc="9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❌ Difficult Outstanding Balance Tracking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77265" y="2075707"/>
            <a:ext cx="2977016" cy="65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650" b="1" spc="7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Management Friction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70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30" name="Freeform 30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818" y="0"/>
            <a:ext cx="19432915" cy="10287000"/>
            <a:chOff x="0" y="0"/>
            <a:chExt cx="25910553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0553" cy="13716000"/>
            </a:xfrm>
            <a:custGeom>
              <a:avLst/>
              <a:gdLst/>
              <a:ahLst/>
              <a:cxnLst/>
              <a:rect l="l" t="t" r="r" b="b"/>
              <a:pathLst>
                <a:path w="25910553" h="13716000">
                  <a:moveTo>
                    <a:pt x="0" y="0"/>
                  </a:moveTo>
                  <a:lnTo>
                    <a:pt x="25910553" y="0"/>
                  </a:lnTo>
                  <a:lnTo>
                    <a:pt x="2591055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130" b="-3130"/>
              </a:stretch>
            </a:blip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189" y="6612536"/>
            <a:ext cx="3514072" cy="351407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676" y="3127269"/>
            <a:ext cx="3498378" cy="349837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073" y="6610668"/>
            <a:ext cx="3536490" cy="353649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1574" y="3127269"/>
            <a:ext cx="3498378" cy="3498378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893647" y="1281818"/>
            <a:ext cx="86937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79958" y="1969314"/>
            <a:ext cx="1603935" cy="1065068"/>
            <a:chOff x="0" y="0"/>
            <a:chExt cx="9562754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64024" cy="6350000"/>
            </a:xfrm>
            <a:custGeom>
              <a:avLst/>
              <a:gdLst/>
              <a:ahLst/>
              <a:cxnLst/>
              <a:rect l="l" t="t" r="r" b="b"/>
              <a:pathLst>
                <a:path w="9564024" h="6350000">
                  <a:moveTo>
                    <a:pt x="9013852" y="0"/>
                  </a:moveTo>
                  <a:lnTo>
                    <a:pt x="548902" y="0"/>
                  </a:lnTo>
                  <a:cubicBezTo>
                    <a:pt x="244807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244807" y="6350000"/>
                    <a:pt x="548902" y="6350000"/>
                  </a:cubicBezTo>
                  <a:lnTo>
                    <a:pt x="9015765" y="6350000"/>
                  </a:lnTo>
                  <a:cubicBezTo>
                    <a:pt x="9317948" y="6350000"/>
                    <a:pt x="9564024" y="6187440"/>
                    <a:pt x="9564024" y="5985510"/>
                  </a:cubicBezTo>
                  <a:lnTo>
                    <a:pt x="9564024" y="364490"/>
                  </a:lnTo>
                  <a:cubicBezTo>
                    <a:pt x="9562754" y="162560"/>
                    <a:pt x="9317948" y="0"/>
                    <a:pt x="9013852" y="0"/>
                  </a:cubicBezTo>
                  <a:close/>
                </a:path>
              </a:pathLst>
            </a:custGeom>
            <a:blipFill>
              <a:blip r:embed="rId7"/>
              <a:stretch>
                <a:fillRect t="-832" b="-83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760634" y="356198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Who hurts 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45831" y="1205618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 -&gt; Online Sellers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37574" y="2270687"/>
            <a:ext cx="14706131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We asked 50 online shoppers about their experience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93647" y="4096209"/>
            <a:ext cx="3636631" cy="138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Experienced delayed order confirmation</a:t>
            </a:r>
          </a:p>
          <a:p>
            <a:pPr algn="l">
              <a:lnSpc>
                <a:spcPts val="3727"/>
              </a:lnSpc>
            </a:pPr>
            <a:r>
              <a:rPr lang="en-US" sz="2048" b="1" spc="92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(34 out of 50)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93647" y="7604894"/>
            <a:ext cx="3636631" cy="140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Had to repeat their order details</a:t>
            </a:r>
          </a:p>
          <a:p>
            <a:pPr algn="l">
              <a:lnSpc>
                <a:spcPts val="3768"/>
              </a:lnSpc>
            </a:pPr>
            <a:r>
              <a:rPr lang="en-US" sz="2048" b="1" spc="92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(25 out of 50)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03247" y="3864521"/>
            <a:ext cx="3636631" cy="138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Had to resend payment screenshots </a:t>
            </a:r>
          </a:p>
          <a:p>
            <a:pPr algn="l">
              <a:lnSpc>
                <a:spcPts val="3727"/>
              </a:lnSpc>
            </a:pPr>
            <a:r>
              <a:rPr lang="en-US" sz="2048" b="1" spc="92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(27 out of 50)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03247" y="7604894"/>
            <a:ext cx="3636631" cy="138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Preferred faster, clearer order updates </a:t>
            </a:r>
          </a:p>
          <a:p>
            <a:pPr algn="l">
              <a:lnSpc>
                <a:spcPts val="3727"/>
              </a:lnSpc>
            </a:pPr>
            <a:r>
              <a:rPr lang="en-US" sz="2048" b="1" spc="92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(44 out of 50)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6714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20" name="Freeform 20"/>
          <p:cNvSpPr/>
          <p:nvPr/>
        </p:nvSpPr>
        <p:spPr>
          <a:xfrm>
            <a:off x="16678968" y="137812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Freeform 21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09605" y="1667464"/>
            <a:ext cx="10991350" cy="8337159"/>
          </a:xfrm>
          <a:custGeom>
            <a:avLst/>
            <a:gdLst/>
            <a:ahLst/>
            <a:cxnLst/>
            <a:rect l="l" t="t" r="r" b="b"/>
            <a:pathLst>
              <a:path w="10991350" h="8337159">
                <a:moveTo>
                  <a:pt x="0" y="0"/>
                </a:moveTo>
                <a:lnTo>
                  <a:pt x="10991350" y="0"/>
                </a:lnTo>
                <a:lnTo>
                  <a:pt x="10991350" y="8337160"/>
                </a:lnTo>
                <a:lnTo>
                  <a:pt x="0" y="8337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7" b="-42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52046" y="3952111"/>
            <a:ext cx="3767866" cy="3767866"/>
          </a:xfrm>
          <a:custGeom>
            <a:avLst/>
            <a:gdLst/>
            <a:ahLst/>
            <a:cxnLst/>
            <a:rect l="l" t="t" r="r" b="b"/>
            <a:pathLst>
              <a:path w="3767866" h="3767866">
                <a:moveTo>
                  <a:pt x="0" y="0"/>
                </a:moveTo>
                <a:lnTo>
                  <a:pt x="3767867" y="0"/>
                </a:lnTo>
                <a:lnTo>
                  <a:pt x="3767867" y="3767866"/>
                </a:lnTo>
                <a:lnTo>
                  <a:pt x="0" y="3767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6795151" y="1047750"/>
            <a:ext cx="43101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950215" y="1902975"/>
            <a:ext cx="1331454" cy="1224938"/>
          </a:xfrm>
          <a:custGeom>
            <a:avLst/>
            <a:gdLst/>
            <a:ahLst/>
            <a:cxnLst/>
            <a:rect l="l" t="t" r="r" b="b"/>
            <a:pathLst>
              <a:path w="1331454" h="1224938">
                <a:moveTo>
                  <a:pt x="0" y="0"/>
                </a:moveTo>
                <a:lnTo>
                  <a:pt x="1331455" y="0"/>
                </a:lnTo>
                <a:lnTo>
                  <a:pt x="1331455" y="1224938"/>
                </a:lnTo>
                <a:lnTo>
                  <a:pt x="0" y="12249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1670" y="4275863"/>
            <a:ext cx="919730" cy="919730"/>
          </a:xfrm>
          <a:custGeom>
            <a:avLst/>
            <a:gdLst/>
            <a:ahLst/>
            <a:cxnLst/>
            <a:rect l="l" t="t" r="r" b="b"/>
            <a:pathLst>
              <a:path w="919730" h="919730">
                <a:moveTo>
                  <a:pt x="0" y="0"/>
                </a:moveTo>
                <a:lnTo>
                  <a:pt x="919730" y="0"/>
                </a:lnTo>
                <a:lnTo>
                  <a:pt x="919730" y="919730"/>
                </a:lnTo>
                <a:lnTo>
                  <a:pt x="0" y="9197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8529199">
            <a:off x="10668056" y="6735234"/>
            <a:ext cx="508445" cy="716119"/>
          </a:xfrm>
          <a:custGeom>
            <a:avLst/>
            <a:gdLst/>
            <a:ahLst/>
            <a:cxnLst/>
            <a:rect l="l" t="t" r="r" b="b"/>
            <a:pathLst>
              <a:path w="508445" h="716119">
                <a:moveTo>
                  <a:pt x="0" y="0"/>
                </a:moveTo>
                <a:lnTo>
                  <a:pt x="508445" y="0"/>
                </a:lnTo>
                <a:lnTo>
                  <a:pt x="508445" y="716119"/>
                </a:lnTo>
                <a:lnTo>
                  <a:pt x="0" y="7161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346305">
            <a:off x="10174229" y="6440506"/>
            <a:ext cx="707655" cy="428131"/>
          </a:xfrm>
          <a:custGeom>
            <a:avLst/>
            <a:gdLst/>
            <a:ahLst/>
            <a:cxnLst/>
            <a:rect l="l" t="t" r="r" b="b"/>
            <a:pathLst>
              <a:path w="707655" h="428131">
                <a:moveTo>
                  <a:pt x="0" y="0"/>
                </a:moveTo>
                <a:lnTo>
                  <a:pt x="707655" y="0"/>
                </a:lnTo>
                <a:lnTo>
                  <a:pt x="707655" y="428131"/>
                </a:lnTo>
                <a:lnTo>
                  <a:pt x="0" y="4281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144000" y="8729178"/>
            <a:ext cx="1149601" cy="1034640"/>
          </a:xfrm>
          <a:custGeom>
            <a:avLst/>
            <a:gdLst/>
            <a:ahLst/>
            <a:cxnLst/>
            <a:rect l="l" t="t" r="r" b="b"/>
            <a:pathLst>
              <a:path w="1149601" h="1034640">
                <a:moveTo>
                  <a:pt x="0" y="0"/>
                </a:moveTo>
                <a:lnTo>
                  <a:pt x="1149601" y="0"/>
                </a:lnTo>
                <a:lnTo>
                  <a:pt x="1149601" y="1034641"/>
                </a:lnTo>
                <a:lnTo>
                  <a:pt x="0" y="10346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52046" y="105343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81704" y="2173259"/>
            <a:ext cx="12396338" cy="62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750" b="1" spc="-247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 Chat to Order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1400" y="4457417"/>
            <a:ext cx="5525296" cy="50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50" b="1" spc="-20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Screenshot to Order Match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05280" y="6632876"/>
            <a:ext cx="5525296" cy="51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8"/>
              </a:lnSpc>
            </a:pPr>
            <a:r>
              <a:rPr lang="en-US" sz="3150" b="1" spc="-207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Smart Message Capture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5943" y="8741272"/>
            <a:ext cx="6096916" cy="1022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8"/>
              </a:lnSpc>
            </a:pPr>
            <a:r>
              <a:rPr lang="en-US" sz="3150" b="1" spc="-207" dirty="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Connected Business </a:t>
            </a:r>
          </a:p>
          <a:p>
            <a:pPr algn="ctr">
              <a:lnSpc>
                <a:spcPts val="3978"/>
              </a:lnSpc>
            </a:pPr>
            <a:r>
              <a:rPr lang="en-US" sz="3150" b="1" spc="-207" dirty="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68931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37491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33105" y="4104294"/>
            <a:ext cx="3767866" cy="3767866"/>
          </a:xfrm>
          <a:custGeom>
            <a:avLst/>
            <a:gdLst/>
            <a:ahLst/>
            <a:cxnLst/>
            <a:rect l="l" t="t" r="r" b="b"/>
            <a:pathLst>
              <a:path w="3767866" h="3767866">
                <a:moveTo>
                  <a:pt x="0" y="0"/>
                </a:moveTo>
                <a:lnTo>
                  <a:pt x="3767866" y="0"/>
                </a:lnTo>
                <a:lnTo>
                  <a:pt x="3767866" y="3767866"/>
                </a:lnTo>
                <a:lnTo>
                  <a:pt x="0" y="3767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6795151" y="1047750"/>
            <a:ext cx="43101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430" y="1868004"/>
            <a:ext cx="9724495" cy="6814530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741547" y="4593178"/>
            <a:ext cx="2172838" cy="3845158"/>
            <a:chOff x="0" y="0"/>
            <a:chExt cx="468630" cy="8293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8630" cy="829310"/>
            </a:xfrm>
            <a:custGeom>
              <a:avLst/>
              <a:gdLst/>
              <a:ahLst/>
              <a:cxnLst/>
              <a:rect l="l" t="t" r="r" b="b"/>
              <a:pathLst>
                <a:path w="468630" h="829310">
                  <a:moveTo>
                    <a:pt x="436880" y="829310"/>
                  </a:moveTo>
                  <a:lnTo>
                    <a:pt x="31750" y="829310"/>
                  </a:lnTo>
                  <a:cubicBezTo>
                    <a:pt x="22860" y="829310"/>
                    <a:pt x="13970" y="824230"/>
                    <a:pt x="8890" y="816610"/>
                  </a:cubicBezTo>
                  <a:cubicBezTo>
                    <a:pt x="2540" y="810260"/>
                    <a:pt x="0" y="802640"/>
                    <a:pt x="0" y="792480"/>
                  </a:cubicBezTo>
                  <a:lnTo>
                    <a:pt x="0" y="33020"/>
                  </a:lnTo>
                  <a:cubicBezTo>
                    <a:pt x="0" y="13970"/>
                    <a:pt x="12700" y="0"/>
                    <a:pt x="30480" y="0"/>
                  </a:cubicBezTo>
                  <a:lnTo>
                    <a:pt x="438150" y="0"/>
                  </a:lnTo>
                  <a:cubicBezTo>
                    <a:pt x="454660" y="0"/>
                    <a:pt x="468630" y="15240"/>
                    <a:pt x="468630" y="34290"/>
                  </a:cubicBezTo>
                  <a:lnTo>
                    <a:pt x="468630" y="795020"/>
                  </a:lnTo>
                  <a:cubicBezTo>
                    <a:pt x="467360" y="814070"/>
                    <a:pt x="453390" y="829310"/>
                    <a:pt x="436880" y="829310"/>
                  </a:cubicBezTo>
                  <a:close/>
                  <a:moveTo>
                    <a:pt x="10160" y="810260"/>
                  </a:moveTo>
                  <a:cubicBezTo>
                    <a:pt x="15240" y="819150"/>
                    <a:pt x="22860" y="824230"/>
                    <a:pt x="31750" y="824230"/>
                  </a:cubicBezTo>
                  <a:lnTo>
                    <a:pt x="436880" y="824230"/>
                  </a:lnTo>
                  <a:cubicBezTo>
                    <a:pt x="450850" y="824230"/>
                    <a:pt x="462280" y="810260"/>
                    <a:pt x="462280" y="793750"/>
                  </a:cubicBezTo>
                  <a:lnTo>
                    <a:pt x="462280" y="34290"/>
                  </a:lnTo>
                  <a:cubicBezTo>
                    <a:pt x="462280" y="17780"/>
                    <a:pt x="450850" y="3810"/>
                    <a:pt x="436880" y="3810"/>
                  </a:cubicBezTo>
                  <a:lnTo>
                    <a:pt x="29210" y="3810"/>
                  </a:lnTo>
                  <a:cubicBezTo>
                    <a:pt x="15240" y="3810"/>
                    <a:pt x="3810" y="15240"/>
                    <a:pt x="3810" y="31750"/>
                  </a:cubicBezTo>
                  <a:lnTo>
                    <a:pt x="3810" y="792480"/>
                  </a:lnTo>
                  <a:cubicBezTo>
                    <a:pt x="5080" y="800100"/>
                    <a:pt x="6350" y="805180"/>
                    <a:pt x="10160" y="810260"/>
                  </a:cubicBezTo>
                  <a:close/>
                  <a:moveTo>
                    <a:pt x="436880" y="722630"/>
                  </a:moveTo>
                  <a:lnTo>
                    <a:pt x="31750" y="722630"/>
                  </a:lnTo>
                  <a:lnTo>
                    <a:pt x="31750" y="77470"/>
                  </a:lnTo>
                  <a:lnTo>
                    <a:pt x="436880" y="77470"/>
                  </a:lnTo>
                  <a:lnTo>
                    <a:pt x="436880" y="722630"/>
                  </a:lnTo>
                  <a:close/>
                  <a:moveTo>
                    <a:pt x="36830" y="718820"/>
                  </a:moveTo>
                  <a:lnTo>
                    <a:pt x="431800" y="718820"/>
                  </a:lnTo>
                  <a:lnTo>
                    <a:pt x="431800" y="83820"/>
                  </a:lnTo>
                  <a:lnTo>
                    <a:pt x="36830" y="83820"/>
                  </a:lnTo>
                  <a:lnTo>
                    <a:pt x="36830" y="718820"/>
                  </a:lnTo>
                  <a:close/>
                </a:path>
              </a:pathLst>
            </a:custGeom>
            <a:solidFill>
              <a:srgbClr val="332F3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270" y="2540"/>
              <a:ext cx="462368" cy="825500"/>
            </a:xfrm>
            <a:custGeom>
              <a:avLst/>
              <a:gdLst/>
              <a:ahLst/>
              <a:cxnLst/>
              <a:rect l="l" t="t" r="r" b="b"/>
              <a:pathLst>
                <a:path w="462368" h="825500">
                  <a:moveTo>
                    <a:pt x="435610" y="0"/>
                  </a:moveTo>
                  <a:lnTo>
                    <a:pt x="27940" y="0"/>
                  </a:lnTo>
                  <a:cubicBezTo>
                    <a:pt x="12700" y="0"/>
                    <a:pt x="0" y="12700"/>
                    <a:pt x="0" y="30480"/>
                  </a:cubicBezTo>
                  <a:lnTo>
                    <a:pt x="0" y="791210"/>
                  </a:lnTo>
                  <a:cubicBezTo>
                    <a:pt x="0" y="800100"/>
                    <a:pt x="2540" y="807720"/>
                    <a:pt x="7620" y="814070"/>
                  </a:cubicBezTo>
                  <a:cubicBezTo>
                    <a:pt x="6350" y="812800"/>
                    <a:pt x="6350" y="811530"/>
                    <a:pt x="6350" y="810260"/>
                  </a:cubicBezTo>
                  <a:cubicBezTo>
                    <a:pt x="11430" y="819150"/>
                    <a:pt x="20320" y="825500"/>
                    <a:pt x="30480" y="825500"/>
                  </a:cubicBezTo>
                  <a:lnTo>
                    <a:pt x="434340" y="825500"/>
                  </a:lnTo>
                  <a:cubicBezTo>
                    <a:pt x="449580" y="825500"/>
                    <a:pt x="462280" y="811530"/>
                    <a:pt x="462280" y="793750"/>
                  </a:cubicBezTo>
                  <a:lnTo>
                    <a:pt x="462280" y="31750"/>
                  </a:lnTo>
                  <a:cubicBezTo>
                    <a:pt x="463550" y="13970"/>
                    <a:pt x="450850" y="0"/>
                    <a:pt x="435610" y="0"/>
                  </a:cubicBezTo>
                  <a:close/>
                  <a:moveTo>
                    <a:pt x="433070" y="717550"/>
                  </a:moveTo>
                  <a:lnTo>
                    <a:pt x="33020" y="717550"/>
                  </a:lnTo>
                  <a:lnTo>
                    <a:pt x="33020" y="77470"/>
                  </a:lnTo>
                  <a:lnTo>
                    <a:pt x="433070" y="77470"/>
                  </a:lnTo>
                  <a:lnTo>
                    <a:pt x="433070" y="7175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08280" y="754380"/>
              <a:ext cx="52158" cy="52070"/>
            </a:xfrm>
            <a:custGeom>
              <a:avLst/>
              <a:gdLst/>
              <a:ahLst/>
              <a:cxnLst/>
              <a:rect l="l" t="t" r="r" b="b"/>
              <a:pathLst>
                <a:path w="52158" h="52070">
                  <a:moveTo>
                    <a:pt x="26670" y="0"/>
                  </a:moveTo>
                  <a:cubicBezTo>
                    <a:pt x="12700" y="0"/>
                    <a:pt x="0" y="11430"/>
                    <a:pt x="0" y="26670"/>
                  </a:cubicBezTo>
                  <a:lnTo>
                    <a:pt x="0" y="31750"/>
                  </a:lnTo>
                  <a:lnTo>
                    <a:pt x="0" y="34290"/>
                  </a:lnTo>
                  <a:cubicBezTo>
                    <a:pt x="0" y="35560"/>
                    <a:pt x="0" y="36830"/>
                    <a:pt x="1270" y="36830"/>
                  </a:cubicBezTo>
                  <a:cubicBezTo>
                    <a:pt x="1270" y="36830"/>
                    <a:pt x="1270" y="38100"/>
                    <a:pt x="2540" y="38100"/>
                  </a:cubicBezTo>
                  <a:cubicBezTo>
                    <a:pt x="2540" y="39370"/>
                    <a:pt x="3810" y="39370"/>
                    <a:pt x="3810" y="40640"/>
                  </a:cubicBezTo>
                  <a:lnTo>
                    <a:pt x="5080" y="41910"/>
                  </a:lnTo>
                  <a:cubicBezTo>
                    <a:pt x="5080" y="43180"/>
                    <a:pt x="6350" y="43180"/>
                    <a:pt x="7620" y="44450"/>
                  </a:cubicBezTo>
                  <a:lnTo>
                    <a:pt x="8890" y="45720"/>
                  </a:lnTo>
                  <a:lnTo>
                    <a:pt x="11430" y="48260"/>
                  </a:lnTo>
                  <a:cubicBezTo>
                    <a:pt x="11430" y="48260"/>
                    <a:pt x="12700" y="48260"/>
                    <a:pt x="12700" y="49530"/>
                  </a:cubicBezTo>
                  <a:cubicBezTo>
                    <a:pt x="13970" y="49530"/>
                    <a:pt x="15240" y="50800"/>
                    <a:pt x="15240" y="50800"/>
                  </a:cubicBezTo>
                  <a:lnTo>
                    <a:pt x="16510" y="50800"/>
                  </a:lnTo>
                  <a:cubicBezTo>
                    <a:pt x="17780" y="50800"/>
                    <a:pt x="19050" y="52070"/>
                    <a:pt x="20320" y="52070"/>
                  </a:cubicBezTo>
                  <a:lnTo>
                    <a:pt x="21590" y="52070"/>
                  </a:lnTo>
                  <a:cubicBezTo>
                    <a:pt x="21590" y="52070"/>
                    <a:pt x="25400" y="52070"/>
                    <a:pt x="26670" y="52070"/>
                  </a:cubicBezTo>
                  <a:cubicBezTo>
                    <a:pt x="39370" y="52070"/>
                    <a:pt x="50800" y="43180"/>
                    <a:pt x="52070" y="31750"/>
                  </a:cubicBezTo>
                  <a:lnTo>
                    <a:pt x="52070" y="30480"/>
                  </a:lnTo>
                  <a:lnTo>
                    <a:pt x="52070" y="25400"/>
                  </a:lnTo>
                  <a:cubicBezTo>
                    <a:pt x="53340" y="11430"/>
                    <a:pt x="40640" y="0"/>
                    <a:pt x="26670" y="0"/>
                  </a:cubicBezTo>
                  <a:close/>
                </a:path>
              </a:pathLst>
            </a:custGeom>
            <a:solidFill>
              <a:srgbClr val="ADADAD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184150" y="35560"/>
              <a:ext cx="100330" cy="7620"/>
            </a:xfrm>
            <a:custGeom>
              <a:avLst/>
              <a:gdLst/>
              <a:ahLst/>
              <a:cxnLst/>
              <a:rect l="l" t="t" r="r" b="b"/>
              <a:pathLst>
                <a:path w="100330" h="7620">
                  <a:moveTo>
                    <a:pt x="97790" y="1270"/>
                  </a:moveTo>
                  <a:lnTo>
                    <a:pt x="3810" y="1270"/>
                  </a:lnTo>
                  <a:cubicBezTo>
                    <a:pt x="2540" y="1270"/>
                    <a:pt x="1270" y="1270"/>
                    <a:pt x="0" y="0"/>
                  </a:cubicBezTo>
                  <a:cubicBezTo>
                    <a:pt x="1270" y="3810"/>
                    <a:pt x="3810" y="7620"/>
                    <a:pt x="6350" y="7620"/>
                  </a:cubicBezTo>
                  <a:lnTo>
                    <a:pt x="93980" y="7620"/>
                  </a:lnTo>
                  <a:cubicBezTo>
                    <a:pt x="96520" y="7620"/>
                    <a:pt x="99060" y="5080"/>
                    <a:pt x="100330" y="0"/>
                  </a:cubicBezTo>
                  <a:cubicBezTo>
                    <a:pt x="99060" y="1270"/>
                    <a:pt x="99060" y="1270"/>
                    <a:pt x="97790" y="127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5400" y="66040"/>
              <a:ext cx="417830" cy="669290"/>
            </a:xfrm>
            <a:custGeom>
              <a:avLst/>
              <a:gdLst/>
              <a:ahLst/>
              <a:cxnLst/>
              <a:rect l="l" t="t" r="r" b="b"/>
              <a:pathLst>
                <a:path w="417830" h="669290">
                  <a:moveTo>
                    <a:pt x="0" y="0"/>
                  </a:moveTo>
                  <a:lnTo>
                    <a:pt x="417830" y="0"/>
                  </a:lnTo>
                  <a:lnTo>
                    <a:pt x="417830" y="669290"/>
                  </a:lnTo>
                  <a:lnTo>
                    <a:pt x="0" y="669290"/>
                  </a:lnTo>
                  <a:close/>
                </a:path>
              </a:pathLst>
            </a:custGeom>
            <a:blipFill>
              <a:blip r:embed="rId6"/>
              <a:stretch>
                <a:fillRect l="-2745" r="-274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752046" y="105343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62323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4D86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36868" y="7254146"/>
            <a:ext cx="6915259" cy="53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5"/>
              </a:lnSpc>
              <a:spcBef>
                <a:spcPct val="0"/>
              </a:spcBef>
            </a:pPr>
            <a:r>
              <a:rPr lang="en-US" sz="3219" b="1" spc="-212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4761013" y="1797662"/>
            <a:ext cx="89790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922147" y="3193165"/>
            <a:ext cx="15067630" cy="5876376"/>
          </a:xfrm>
          <a:custGeom>
            <a:avLst/>
            <a:gdLst/>
            <a:ahLst/>
            <a:cxnLst/>
            <a:rect l="l" t="t" r="r" b="b"/>
            <a:pathLst>
              <a:path w="15067630" h="5876376">
                <a:moveTo>
                  <a:pt x="0" y="0"/>
                </a:moveTo>
                <a:lnTo>
                  <a:pt x="15067630" y="0"/>
                </a:lnTo>
                <a:lnTo>
                  <a:pt x="15067630" y="5876375"/>
                </a:lnTo>
                <a:lnTo>
                  <a:pt x="0" y="587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542926" y="2925837"/>
            <a:ext cx="1243574" cy="1243574"/>
          </a:xfrm>
          <a:custGeom>
            <a:avLst/>
            <a:gdLst/>
            <a:ahLst/>
            <a:cxnLst/>
            <a:rect l="l" t="t" r="r" b="b"/>
            <a:pathLst>
              <a:path w="1243574" h="1243574">
                <a:moveTo>
                  <a:pt x="0" y="0"/>
                </a:moveTo>
                <a:lnTo>
                  <a:pt x="1243574" y="0"/>
                </a:lnTo>
                <a:lnTo>
                  <a:pt x="1243574" y="1243574"/>
                </a:lnTo>
                <a:lnTo>
                  <a:pt x="0" y="1243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672276" y="2925837"/>
            <a:ext cx="1442763" cy="1103713"/>
          </a:xfrm>
          <a:custGeom>
            <a:avLst/>
            <a:gdLst/>
            <a:ahLst/>
            <a:cxnLst/>
            <a:rect l="l" t="t" r="r" b="b"/>
            <a:pathLst>
              <a:path w="1442763" h="1103713">
                <a:moveTo>
                  <a:pt x="0" y="0"/>
                </a:moveTo>
                <a:lnTo>
                  <a:pt x="1442763" y="0"/>
                </a:lnTo>
                <a:lnTo>
                  <a:pt x="1442763" y="1103713"/>
                </a:lnTo>
                <a:lnTo>
                  <a:pt x="0" y="1103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54298" y="2822449"/>
            <a:ext cx="2263802" cy="1346962"/>
          </a:xfrm>
          <a:custGeom>
            <a:avLst/>
            <a:gdLst/>
            <a:ahLst/>
            <a:cxnLst/>
            <a:rect l="l" t="t" r="r" b="b"/>
            <a:pathLst>
              <a:path w="2263802" h="1346962">
                <a:moveTo>
                  <a:pt x="0" y="0"/>
                </a:moveTo>
                <a:lnTo>
                  <a:pt x="2263802" y="0"/>
                </a:lnTo>
                <a:lnTo>
                  <a:pt x="2263802" y="1346962"/>
                </a:lnTo>
                <a:lnTo>
                  <a:pt x="0" y="1346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95540" y="822434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How AI Transforms Online Selling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0419" y="5510435"/>
            <a:ext cx="3658038" cy="1663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7"/>
              </a:lnSpc>
            </a:pPr>
            <a:r>
              <a:rPr lang="en-US" sz="2460" spc="1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Chats, screenshots, and orders are disconnected.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1840" y="4775715"/>
            <a:ext cx="3658038" cy="2787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7"/>
              </a:lnSpc>
            </a:pPr>
            <a:endParaRPr/>
          </a:p>
          <a:p>
            <a:pPr algn="l">
              <a:lnSpc>
                <a:spcPts val="4477"/>
              </a:lnSpc>
            </a:pPr>
            <a:r>
              <a:rPr lang="en-US" sz="2460" spc="1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Language + vision models turn messy inputs into structured information.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20419" y="4366041"/>
            <a:ext cx="3658038" cy="58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2660" b="1" spc="1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Messy Inputs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86199" y="5326299"/>
            <a:ext cx="3658038" cy="222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7"/>
              </a:lnSpc>
            </a:pPr>
            <a:r>
              <a:rPr lang="en-US" sz="2460" spc="1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Editable orders, suggested payment matches, and clearer financial records.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81840" y="4350103"/>
            <a:ext cx="3658038" cy="58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2660" b="1" spc="1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AI Understands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86199" y="4366041"/>
            <a:ext cx="3658038" cy="58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2660" b="1" spc="1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Faster Actions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81373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5019720" y="1240233"/>
            <a:ext cx="82699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904446" y="257743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Opportunities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69888" y="1782853"/>
            <a:ext cx="8009138" cy="8009139"/>
            <a:chOff x="0" y="0"/>
            <a:chExt cx="10678851" cy="1067885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678851" cy="10678851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DA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-66675"/>
                <a:ext cx="660400" cy="803275"/>
              </a:xfrm>
              <a:prstGeom prst="rect">
                <a:avLst/>
              </a:prstGeom>
            </p:spPr>
            <p:txBody>
              <a:bodyPr lIns="48868" tIns="48868" rIns="48868" bIns="48868" rtlCol="0" anchor="ctr"/>
              <a:lstStyle/>
              <a:p>
                <a:pPr algn="ctr">
                  <a:lnSpc>
                    <a:spcPts val="372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72905" y="6338580"/>
              <a:ext cx="4340271" cy="4340271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03A7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-66675"/>
                <a:ext cx="660400" cy="803275"/>
              </a:xfrm>
              <a:prstGeom prst="rect">
                <a:avLst/>
              </a:prstGeom>
            </p:spPr>
            <p:txBody>
              <a:bodyPr lIns="48868" tIns="48868" rIns="48868" bIns="48868" rtlCol="0" anchor="ctr"/>
              <a:lstStyle/>
              <a:p>
                <a:pPr algn="ctr">
                  <a:lnSpc>
                    <a:spcPts val="3727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340244" y="2524358"/>
              <a:ext cx="8154494" cy="8154494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-66675"/>
                <a:ext cx="660400" cy="803275"/>
              </a:xfrm>
              <a:prstGeom prst="rect">
                <a:avLst/>
              </a:prstGeom>
            </p:spPr>
            <p:txBody>
              <a:bodyPr lIns="48868" tIns="48868" rIns="48868" bIns="48868" rtlCol="0" anchor="ctr"/>
              <a:lstStyle/>
              <a:p>
                <a:pPr algn="ctr">
                  <a:lnSpc>
                    <a:spcPts val="3727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635507" y="5001691"/>
              <a:ext cx="5677161" cy="5677161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4D86">
                  <a:alpha val="73725"/>
                </a:srgbClr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-66675"/>
                <a:ext cx="660400" cy="803275"/>
              </a:xfrm>
              <a:prstGeom prst="rect">
                <a:avLst/>
              </a:prstGeom>
            </p:spPr>
            <p:txBody>
              <a:bodyPr lIns="48868" tIns="48868" rIns="48868" bIns="48868" rtlCol="0" anchor="ctr"/>
              <a:lstStyle/>
              <a:p>
                <a:pPr algn="ctr">
                  <a:lnSpc>
                    <a:spcPts val="3727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645368" y="248160"/>
              <a:ext cx="1373416" cy="6964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65"/>
                </a:lnSpc>
              </a:pPr>
              <a:r>
                <a:rPr lang="en-US" sz="3219" b="1" spc="-212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5825" y="1117047"/>
              <a:ext cx="2231924" cy="18724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65"/>
                </a:lnSpc>
              </a:pPr>
              <a:r>
                <a:rPr lang="en-US" sz="3219" b="1" spc="-212" dirty="0">
                  <a:solidFill>
                    <a:srgbClr val="0A59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21,088+</a:t>
              </a:r>
            </a:p>
            <a:p>
              <a:pPr algn="ctr">
                <a:lnSpc>
                  <a:spcPts val="3399"/>
                </a:lnSpc>
              </a:pPr>
              <a:endParaRPr lang="en-US" sz="3219" b="1" spc="-212" dirty="0">
                <a:solidFill>
                  <a:srgbClr val="0A59BE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3399"/>
                </a:lnSpc>
              </a:pPr>
              <a:endParaRPr lang="en-US" sz="3219" b="1" spc="-212" dirty="0">
                <a:solidFill>
                  <a:srgbClr val="0A59BE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30817" y="5757749"/>
              <a:ext cx="1573348" cy="953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31"/>
                </a:lnSpc>
              </a:pPr>
              <a:r>
                <a:rPr lang="en-US" sz="4379" b="1" spc="-2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86599" y="1842141"/>
              <a:ext cx="7661784" cy="1099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66"/>
                </a:lnSpc>
              </a:pPr>
              <a:r>
                <a:rPr lang="en-US" sz="2586" b="1" spc="-170">
                  <a:solidFill>
                    <a:srgbClr val="783B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Registered Myanmar Online Operators</a:t>
              </a:r>
            </a:p>
            <a:p>
              <a:pPr algn="ctr">
                <a:lnSpc>
                  <a:spcPts val="3266"/>
                </a:lnSpc>
              </a:pPr>
              <a:endParaRPr lang="en-US" sz="2586" b="1" spc="-170">
                <a:solidFill>
                  <a:srgbClr val="783B1E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51091" y="6851464"/>
              <a:ext cx="1067693" cy="6964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65"/>
                </a:lnSpc>
              </a:pPr>
              <a:r>
                <a:rPr lang="en-US" sz="3219" b="1" spc="-212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73976" y="7724794"/>
              <a:ext cx="5241815" cy="585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99"/>
                </a:lnSpc>
              </a:pPr>
              <a:r>
                <a:rPr lang="en-US" sz="2691" b="1" spc="-177">
                  <a:solidFill>
                    <a:srgbClr val="7ED95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Illustrative first-year goal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9343" y="2729331"/>
              <a:ext cx="1199436" cy="6964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65"/>
                </a:lnSpc>
              </a:pPr>
              <a:r>
                <a:rPr lang="en-US" sz="3219" b="1" spc="-212" dirty="0">
                  <a:solidFill>
                    <a:srgbClr val="2E354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19349" y="3512760"/>
              <a:ext cx="1384816" cy="6964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65"/>
                </a:lnSpc>
              </a:pPr>
              <a:r>
                <a:rPr lang="en-US" sz="3219" b="1" spc="-212" dirty="0">
                  <a:solidFill>
                    <a:srgbClr val="1800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6000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67011" y="4368201"/>
              <a:ext cx="4655744" cy="550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66"/>
                </a:lnSpc>
              </a:pPr>
              <a:r>
                <a:rPr lang="en-US" sz="2586" b="1" spc="-170">
                  <a:solidFill>
                    <a:srgbClr val="FF45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Illustrative  assumption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30" name="Freeform 30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04" y="0"/>
            <a:ext cx="19432915" cy="10287000"/>
            <a:chOff x="0" y="0"/>
            <a:chExt cx="25910553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0553" cy="13716000"/>
            </a:xfrm>
            <a:custGeom>
              <a:avLst/>
              <a:gdLst/>
              <a:ahLst/>
              <a:cxnLst/>
              <a:rect l="l" t="t" r="r" b="b"/>
              <a:pathLst>
                <a:path w="25910553" h="13716000">
                  <a:moveTo>
                    <a:pt x="0" y="0"/>
                  </a:moveTo>
                  <a:lnTo>
                    <a:pt x="25910553" y="0"/>
                  </a:lnTo>
                  <a:lnTo>
                    <a:pt x="2591055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130" b="-3130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4487449" y="1244292"/>
            <a:ext cx="89790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2444205" y="6560245"/>
            <a:ext cx="8271421" cy="3652721"/>
            <a:chOff x="0" y="0"/>
            <a:chExt cx="1568053" cy="692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8053" cy="692464"/>
            </a:xfrm>
            <a:custGeom>
              <a:avLst/>
              <a:gdLst/>
              <a:ahLst/>
              <a:cxnLst/>
              <a:rect l="l" t="t" r="r" b="b"/>
              <a:pathLst>
                <a:path w="1568053" h="692464">
                  <a:moveTo>
                    <a:pt x="21528" y="0"/>
                  </a:moveTo>
                  <a:lnTo>
                    <a:pt x="1546525" y="0"/>
                  </a:lnTo>
                  <a:cubicBezTo>
                    <a:pt x="1558414" y="0"/>
                    <a:pt x="1568053" y="9638"/>
                    <a:pt x="1568053" y="21528"/>
                  </a:cubicBezTo>
                  <a:lnTo>
                    <a:pt x="1568053" y="670936"/>
                  </a:lnTo>
                  <a:cubicBezTo>
                    <a:pt x="1568053" y="682826"/>
                    <a:pt x="1558414" y="692464"/>
                    <a:pt x="1546525" y="692464"/>
                  </a:cubicBezTo>
                  <a:lnTo>
                    <a:pt x="21528" y="692464"/>
                  </a:lnTo>
                  <a:cubicBezTo>
                    <a:pt x="9638" y="692464"/>
                    <a:pt x="0" y="682826"/>
                    <a:pt x="0" y="670936"/>
                  </a:cubicBezTo>
                  <a:lnTo>
                    <a:pt x="0" y="21528"/>
                  </a:lnTo>
                  <a:cubicBezTo>
                    <a:pt x="0" y="9638"/>
                    <a:pt x="9638" y="0"/>
                    <a:pt x="21528" y="0"/>
                  </a:cubicBezTo>
                  <a:close/>
                </a:path>
              </a:pathLst>
            </a:custGeom>
            <a:blipFill>
              <a:blip r:embed="rId3"/>
              <a:stretch>
                <a:fillRect t="-34695" b="-3513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1299655" y="6942247"/>
            <a:ext cx="1055559" cy="1013337"/>
          </a:xfrm>
          <a:custGeom>
            <a:avLst/>
            <a:gdLst/>
            <a:ahLst/>
            <a:cxnLst/>
            <a:rect l="l" t="t" r="r" b="b"/>
            <a:pathLst>
              <a:path w="1055559" h="1013337">
                <a:moveTo>
                  <a:pt x="0" y="0"/>
                </a:moveTo>
                <a:lnTo>
                  <a:pt x="1055559" y="0"/>
                </a:lnTo>
                <a:lnTo>
                  <a:pt x="1055559" y="1013337"/>
                </a:lnTo>
                <a:lnTo>
                  <a:pt x="0" y="101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900052" y="1374130"/>
            <a:ext cx="4904086" cy="5835616"/>
            <a:chOff x="0" y="0"/>
            <a:chExt cx="3790950" cy="4511040"/>
          </a:xfrm>
        </p:grpSpPr>
        <p:sp>
          <p:nvSpPr>
            <p:cNvPr id="9" name="Freeform 9"/>
            <p:cNvSpPr/>
            <p:nvPr/>
          </p:nvSpPr>
          <p:spPr>
            <a:xfrm>
              <a:off x="158750" y="158750"/>
              <a:ext cx="3473450" cy="4193540"/>
            </a:xfrm>
            <a:custGeom>
              <a:avLst/>
              <a:gdLst/>
              <a:ahLst/>
              <a:cxnLst/>
              <a:rect l="l" t="t" r="r" b="b"/>
              <a:pathLst>
                <a:path w="3473450" h="4193540">
                  <a:moveTo>
                    <a:pt x="0" y="0"/>
                  </a:moveTo>
                  <a:lnTo>
                    <a:pt x="3473450" y="0"/>
                  </a:lnTo>
                  <a:lnTo>
                    <a:pt x="3473450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6"/>
              <a:stretch>
                <a:fillRect t="-1749" b="-174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593914" y="1491413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Freemium SaaS for Myanmar Online Sellers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78816" y="265005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Model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370941" y="8694262"/>
            <a:ext cx="5152969" cy="1197478"/>
            <a:chOff x="0" y="0"/>
            <a:chExt cx="6870626" cy="1596637"/>
          </a:xfrm>
        </p:grpSpPr>
        <p:sp>
          <p:nvSpPr>
            <p:cNvPr id="13" name="Freeform 13"/>
            <p:cNvSpPr/>
            <p:nvPr/>
          </p:nvSpPr>
          <p:spPr>
            <a:xfrm>
              <a:off x="0" y="40899"/>
              <a:ext cx="1514838" cy="1514838"/>
            </a:xfrm>
            <a:custGeom>
              <a:avLst/>
              <a:gdLst/>
              <a:ahLst/>
              <a:cxnLst/>
              <a:rect l="l" t="t" r="r" b="b"/>
              <a:pathLst>
                <a:path w="1514838" h="1514838">
                  <a:moveTo>
                    <a:pt x="0" y="0"/>
                  </a:moveTo>
                  <a:lnTo>
                    <a:pt x="1514838" y="0"/>
                  </a:lnTo>
                  <a:lnTo>
                    <a:pt x="1514838" y="1514839"/>
                  </a:lnTo>
                  <a:lnTo>
                    <a:pt x="0" y="1514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2021784" y="-66675"/>
              <a:ext cx="4848842" cy="1663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8"/>
                </a:lnSpc>
              </a:pPr>
              <a:r>
                <a:rPr lang="en-US" sz="2048" b="1" spc="9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Break-even Point</a:t>
              </a:r>
            </a:p>
            <a:p>
              <a:pPr algn="l">
                <a:lnSpc>
                  <a:spcPts val="4072"/>
                </a:lnSpc>
              </a:pPr>
              <a:r>
                <a:rPr lang="en-US" sz="2847" b="1" spc="128">
                  <a:solidFill>
                    <a:srgbClr val="FC44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134</a:t>
              </a:r>
            </a:p>
            <a:p>
              <a:pPr algn="l">
                <a:lnSpc>
                  <a:spcPts val="2928"/>
                </a:lnSpc>
              </a:pPr>
              <a:r>
                <a:rPr lang="en-US" sz="2048" b="1" spc="9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Sellers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793364" y="6904885"/>
            <a:ext cx="3451729" cy="1017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sz="1943" b="1" spc="8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Annual Revenue</a:t>
            </a:r>
          </a:p>
          <a:p>
            <a:pPr algn="l">
              <a:lnSpc>
                <a:spcPts val="4919"/>
              </a:lnSpc>
            </a:pPr>
            <a:r>
              <a:rPr lang="en-US" sz="2703" b="1" spc="121">
                <a:solidFill>
                  <a:srgbClr val="FC444D"/>
                </a:solidFill>
                <a:latin typeface="Poppins Bold"/>
                <a:ea typeface="Poppins Bold"/>
                <a:cs typeface="Poppins Bold"/>
                <a:sym typeface="Poppins Bold"/>
              </a:rPr>
              <a:t>54M</a:t>
            </a:r>
            <a:r>
              <a:rPr lang="en-US" sz="2703" b="1" spc="1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76833" y="7442500"/>
            <a:ext cx="3636631" cy="44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048" b="1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MMK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995966" y="1374130"/>
            <a:ext cx="4904086" cy="5835616"/>
            <a:chOff x="0" y="0"/>
            <a:chExt cx="3790950" cy="4511040"/>
          </a:xfrm>
        </p:grpSpPr>
        <p:sp>
          <p:nvSpPr>
            <p:cNvPr id="18" name="Freeform 18"/>
            <p:cNvSpPr/>
            <p:nvPr/>
          </p:nvSpPr>
          <p:spPr>
            <a:xfrm>
              <a:off x="158750" y="158750"/>
              <a:ext cx="3473450" cy="4193540"/>
            </a:xfrm>
            <a:custGeom>
              <a:avLst/>
              <a:gdLst/>
              <a:ahLst/>
              <a:cxnLst/>
              <a:rect l="l" t="t" r="r" b="b"/>
              <a:pathLst>
                <a:path w="3473450" h="4193540">
                  <a:moveTo>
                    <a:pt x="0" y="0"/>
                  </a:moveTo>
                  <a:lnTo>
                    <a:pt x="3473450" y="0"/>
                  </a:lnTo>
                  <a:lnTo>
                    <a:pt x="3473450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9"/>
              <a:stretch>
                <a:fillRect t="-1749" b="-174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2179539" y="1545641"/>
            <a:ext cx="4615820" cy="5492594"/>
            <a:chOff x="0" y="0"/>
            <a:chExt cx="3790950" cy="4511040"/>
          </a:xfrm>
        </p:grpSpPr>
        <p:sp>
          <p:nvSpPr>
            <p:cNvPr id="20" name="Freeform 20"/>
            <p:cNvSpPr/>
            <p:nvPr/>
          </p:nvSpPr>
          <p:spPr>
            <a:xfrm>
              <a:off x="158750" y="158750"/>
              <a:ext cx="3473450" cy="4193540"/>
            </a:xfrm>
            <a:custGeom>
              <a:avLst/>
              <a:gdLst/>
              <a:ahLst/>
              <a:cxnLst/>
              <a:rect l="l" t="t" r="r" b="b"/>
              <a:pathLst>
                <a:path w="3473450" h="4193540">
                  <a:moveTo>
                    <a:pt x="0" y="0"/>
                  </a:moveTo>
                  <a:lnTo>
                    <a:pt x="3473450" y="0"/>
                  </a:lnTo>
                  <a:lnTo>
                    <a:pt x="3473450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10"/>
              <a:stretch>
                <a:fillRect t="-1749" b="-1749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23" name="Freeform 23"/>
          <p:cNvSpPr/>
          <p:nvPr/>
        </p:nvSpPr>
        <p:spPr>
          <a:xfrm>
            <a:off x="16915927" y="72933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4" name="Freeform 24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9432915" cy="10287000"/>
            <a:chOff x="0" y="0"/>
            <a:chExt cx="25910553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0553" cy="13716000"/>
            </a:xfrm>
            <a:custGeom>
              <a:avLst/>
              <a:gdLst/>
              <a:ahLst/>
              <a:cxnLst/>
              <a:rect l="l" t="t" r="r" b="b"/>
              <a:pathLst>
                <a:path w="25910553" h="13716000">
                  <a:moveTo>
                    <a:pt x="0" y="0"/>
                  </a:moveTo>
                  <a:lnTo>
                    <a:pt x="25910553" y="0"/>
                  </a:lnTo>
                  <a:lnTo>
                    <a:pt x="2591055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130" b="-3130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3781574" y="1714924"/>
            <a:ext cx="110966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102891" y="832929"/>
            <a:ext cx="12396338" cy="68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5"/>
              </a:lnSpc>
            </a:pPr>
            <a:r>
              <a:rPr lang="en-US" sz="4050" b="1" spc="-267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From an Idea to a Working Product Foundation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8079315" y="4987218"/>
            <a:ext cx="2265826" cy="2300331"/>
          </a:xfrm>
          <a:custGeom>
            <a:avLst/>
            <a:gdLst/>
            <a:ahLst/>
            <a:cxnLst/>
            <a:rect l="l" t="t" r="r" b="b"/>
            <a:pathLst>
              <a:path w="2265826" h="2300331">
                <a:moveTo>
                  <a:pt x="0" y="0"/>
                </a:moveTo>
                <a:lnTo>
                  <a:pt x="2265827" y="0"/>
                </a:lnTo>
                <a:lnTo>
                  <a:pt x="2265827" y="2300331"/>
                </a:lnTo>
                <a:lnTo>
                  <a:pt x="0" y="2300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60565" y="676224"/>
            <a:ext cx="877327" cy="948462"/>
          </a:xfrm>
          <a:custGeom>
            <a:avLst/>
            <a:gdLst/>
            <a:ahLst/>
            <a:cxnLst/>
            <a:rect l="l" t="t" r="r" b="b"/>
            <a:pathLst>
              <a:path w="877327" h="948462">
                <a:moveTo>
                  <a:pt x="0" y="0"/>
                </a:moveTo>
                <a:lnTo>
                  <a:pt x="877328" y="0"/>
                </a:lnTo>
                <a:lnTo>
                  <a:pt x="877328" y="948462"/>
                </a:lnTo>
                <a:lnTo>
                  <a:pt x="0" y="94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064791" y="2463362"/>
            <a:ext cx="12532795" cy="7331685"/>
          </a:xfrm>
          <a:custGeom>
            <a:avLst/>
            <a:gdLst/>
            <a:ahLst/>
            <a:cxnLst/>
            <a:rect l="l" t="t" r="r" b="b"/>
            <a:pathLst>
              <a:path w="12532795" h="7331685">
                <a:moveTo>
                  <a:pt x="0" y="0"/>
                </a:moveTo>
                <a:lnTo>
                  <a:pt x="12532795" y="0"/>
                </a:lnTo>
                <a:lnTo>
                  <a:pt x="12532795" y="7331684"/>
                </a:lnTo>
                <a:lnTo>
                  <a:pt x="0" y="7331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13706" y="2767098"/>
            <a:ext cx="944977" cy="935527"/>
          </a:xfrm>
          <a:custGeom>
            <a:avLst/>
            <a:gdLst/>
            <a:ahLst/>
            <a:cxnLst/>
            <a:rect l="l" t="t" r="r" b="b"/>
            <a:pathLst>
              <a:path w="944977" h="935527">
                <a:moveTo>
                  <a:pt x="0" y="0"/>
                </a:moveTo>
                <a:lnTo>
                  <a:pt x="944977" y="0"/>
                </a:lnTo>
                <a:lnTo>
                  <a:pt x="944977" y="935527"/>
                </a:lnTo>
                <a:lnTo>
                  <a:pt x="0" y="9355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36903" y="7287549"/>
            <a:ext cx="1118820" cy="1090849"/>
          </a:xfrm>
          <a:custGeom>
            <a:avLst/>
            <a:gdLst/>
            <a:ahLst/>
            <a:cxnLst/>
            <a:rect l="l" t="t" r="r" b="b"/>
            <a:pathLst>
              <a:path w="1118820" h="1090849">
                <a:moveTo>
                  <a:pt x="0" y="0"/>
                </a:moveTo>
                <a:lnTo>
                  <a:pt x="1118820" y="0"/>
                </a:lnTo>
                <a:lnTo>
                  <a:pt x="1118820" y="1090850"/>
                </a:lnTo>
                <a:lnTo>
                  <a:pt x="0" y="109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305823" y="7406568"/>
            <a:ext cx="1067946" cy="971831"/>
          </a:xfrm>
          <a:custGeom>
            <a:avLst/>
            <a:gdLst/>
            <a:ahLst/>
            <a:cxnLst/>
            <a:rect l="l" t="t" r="r" b="b"/>
            <a:pathLst>
              <a:path w="1067946" h="971831">
                <a:moveTo>
                  <a:pt x="0" y="0"/>
                </a:moveTo>
                <a:lnTo>
                  <a:pt x="1067946" y="0"/>
                </a:lnTo>
                <a:lnTo>
                  <a:pt x="1067946" y="971831"/>
                </a:lnTo>
                <a:lnTo>
                  <a:pt x="0" y="9718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336903" y="2808573"/>
            <a:ext cx="914908" cy="953123"/>
            <a:chOff x="0" y="0"/>
            <a:chExt cx="1373770" cy="1431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3770" cy="1431150"/>
            </a:xfrm>
            <a:custGeom>
              <a:avLst/>
              <a:gdLst/>
              <a:ahLst/>
              <a:cxnLst/>
              <a:rect l="l" t="t" r="r" b="b"/>
              <a:pathLst>
                <a:path w="1373770" h="1431150">
                  <a:moveTo>
                    <a:pt x="1349525" y="155341"/>
                  </a:moveTo>
                  <a:lnTo>
                    <a:pt x="1238947" y="31728"/>
                  </a:lnTo>
                  <a:cubicBezTo>
                    <a:pt x="1220887" y="11539"/>
                    <a:pt x="1195081" y="0"/>
                    <a:pt x="1167992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1212338"/>
                  </a:lnTo>
                  <a:cubicBezTo>
                    <a:pt x="0" y="1235758"/>
                    <a:pt x="8633" y="1258356"/>
                    <a:pt x="24247" y="1275810"/>
                  </a:cubicBezTo>
                  <a:lnTo>
                    <a:pt x="134824" y="1399422"/>
                  </a:lnTo>
                  <a:cubicBezTo>
                    <a:pt x="152885" y="1419611"/>
                    <a:pt x="178690" y="1431151"/>
                    <a:pt x="205778" y="1431150"/>
                  </a:cubicBezTo>
                  <a:lnTo>
                    <a:pt x="1167990" y="1431142"/>
                  </a:lnTo>
                  <a:cubicBezTo>
                    <a:pt x="1195078" y="1431142"/>
                    <a:pt x="1220883" y="1419602"/>
                    <a:pt x="1238942" y="1399413"/>
                  </a:cubicBezTo>
                  <a:lnTo>
                    <a:pt x="1349524" y="1275798"/>
                  </a:lnTo>
                  <a:cubicBezTo>
                    <a:pt x="1365138" y="1258343"/>
                    <a:pt x="1373771" y="1235745"/>
                    <a:pt x="1373770" y="1212326"/>
                  </a:cubicBezTo>
                  <a:lnTo>
                    <a:pt x="1373770" y="218812"/>
                  </a:lnTo>
                  <a:cubicBezTo>
                    <a:pt x="1373771" y="195393"/>
                    <a:pt x="1365139" y="172796"/>
                    <a:pt x="1349525" y="155341"/>
                  </a:cubicBezTo>
                  <a:close/>
                </a:path>
              </a:pathLst>
            </a:custGeom>
            <a:blipFill>
              <a:blip r:embed="rId14"/>
              <a:stretch>
                <a:fillRect l="-2088" r="-208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3288230" y="8524161"/>
            <a:ext cx="2868926" cy="79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two AI-powered workflows.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36613" y="8504947"/>
            <a:ext cx="3184863" cy="78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2"/>
              </a:lnSpc>
            </a:pPr>
            <a:r>
              <a:rPr lang="en-US" sz="2409" b="1" spc="-15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Defined key product validation priorities.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93763" y="3797146"/>
            <a:ext cx="2868926" cy="1190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order forms and calculations.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0568" y="3797146"/>
            <a:ext cx="3411489" cy="1190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Built the </a:t>
            </a:r>
          </a:p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merchant website and AI assistant.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89576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20" name="Freeform 20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1593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4842273" y="1314347"/>
            <a:ext cx="89790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3095540" y="462185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WHY CHOOSE US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242972" y="1567085"/>
            <a:ext cx="14101474" cy="8067376"/>
            <a:chOff x="0" y="0"/>
            <a:chExt cx="18801966" cy="107565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4922" cy="5263950"/>
            </a:xfrm>
            <a:custGeom>
              <a:avLst/>
              <a:gdLst/>
              <a:ahLst/>
              <a:cxnLst/>
              <a:rect l="l" t="t" r="r" b="b"/>
              <a:pathLst>
                <a:path w="8224922" h="5263950">
                  <a:moveTo>
                    <a:pt x="0" y="0"/>
                  </a:moveTo>
                  <a:lnTo>
                    <a:pt x="8224922" y="0"/>
                  </a:lnTo>
                  <a:lnTo>
                    <a:pt x="8224922" y="5263950"/>
                  </a:lnTo>
                  <a:lnTo>
                    <a:pt x="0" y="5263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435209" y="583201"/>
              <a:ext cx="1354503" cy="1300323"/>
            </a:xfrm>
            <a:custGeom>
              <a:avLst/>
              <a:gdLst/>
              <a:ahLst/>
              <a:cxnLst/>
              <a:rect l="l" t="t" r="r" b="b"/>
              <a:pathLst>
                <a:path w="1354503" h="1300323">
                  <a:moveTo>
                    <a:pt x="0" y="0"/>
                  </a:moveTo>
                  <a:lnTo>
                    <a:pt x="1354504" y="0"/>
                  </a:lnTo>
                  <a:lnTo>
                    <a:pt x="1354504" y="1300324"/>
                  </a:lnTo>
                  <a:lnTo>
                    <a:pt x="0" y="1300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5492550"/>
              <a:ext cx="8224922" cy="5263950"/>
            </a:xfrm>
            <a:custGeom>
              <a:avLst/>
              <a:gdLst/>
              <a:ahLst/>
              <a:cxnLst/>
              <a:rect l="l" t="t" r="r" b="b"/>
              <a:pathLst>
                <a:path w="8224922" h="5263950">
                  <a:moveTo>
                    <a:pt x="0" y="0"/>
                  </a:moveTo>
                  <a:lnTo>
                    <a:pt x="8224922" y="0"/>
                  </a:lnTo>
                  <a:lnTo>
                    <a:pt x="8224922" y="5263951"/>
                  </a:lnTo>
                  <a:lnTo>
                    <a:pt x="0" y="5263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0577043" y="0"/>
              <a:ext cx="8224922" cy="5263950"/>
            </a:xfrm>
            <a:custGeom>
              <a:avLst/>
              <a:gdLst/>
              <a:ahLst/>
              <a:cxnLst/>
              <a:rect l="l" t="t" r="r" b="b"/>
              <a:pathLst>
                <a:path w="8224922" h="5263950">
                  <a:moveTo>
                    <a:pt x="0" y="0"/>
                  </a:moveTo>
                  <a:lnTo>
                    <a:pt x="8224923" y="0"/>
                  </a:lnTo>
                  <a:lnTo>
                    <a:pt x="8224923" y="5263950"/>
                  </a:lnTo>
                  <a:lnTo>
                    <a:pt x="0" y="5263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0577043" y="5492550"/>
              <a:ext cx="8224922" cy="5263950"/>
            </a:xfrm>
            <a:custGeom>
              <a:avLst/>
              <a:gdLst/>
              <a:ahLst/>
              <a:cxnLst/>
              <a:rect l="l" t="t" r="r" b="b"/>
              <a:pathLst>
                <a:path w="8224922" h="5263950">
                  <a:moveTo>
                    <a:pt x="0" y="0"/>
                  </a:moveTo>
                  <a:lnTo>
                    <a:pt x="8224923" y="0"/>
                  </a:lnTo>
                  <a:lnTo>
                    <a:pt x="8224923" y="5263951"/>
                  </a:lnTo>
                  <a:lnTo>
                    <a:pt x="0" y="5263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4029228" y="541974"/>
              <a:ext cx="1320553" cy="1382778"/>
            </a:xfrm>
            <a:custGeom>
              <a:avLst/>
              <a:gdLst/>
              <a:ahLst/>
              <a:cxnLst/>
              <a:rect l="l" t="t" r="r" b="b"/>
              <a:pathLst>
                <a:path w="1320553" h="1382778">
                  <a:moveTo>
                    <a:pt x="0" y="0"/>
                  </a:moveTo>
                  <a:lnTo>
                    <a:pt x="1320553" y="0"/>
                  </a:lnTo>
                  <a:lnTo>
                    <a:pt x="1320553" y="1382778"/>
                  </a:lnTo>
                  <a:lnTo>
                    <a:pt x="0" y="1382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3487409" y="5976135"/>
              <a:ext cx="1454497" cy="1491792"/>
            </a:xfrm>
            <a:custGeom>
              <a:avLst/>
              <a:gdLst/>
              <a:ahLst/>
              <a:cxnLst/>
              <a:rect l="l" t="t" r="r" b="b"/>
              <a:pathLst>
                <a:path w="1454497" h="1491792">
                  <a:moveTo>
                    <a:pt x="0" y="0"/>
                  </a:moveTo>
                  <a:lnTo>
                    <a:pt x="1454497" y="0"/>
                  </a:lnTo>
                  <a:lnTo>
                    <a:pt x="1454497" y="1491792"/>
                  </a:lnTo>
                  <a:lnTo>
                    <a:pt x="0" y="149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3920594" y="6200747"/>
              <a:ext cx="1544545" cy="1042568"/>
            </a:xfrm>
            <a:custGeom>
              <a:avLst/>
              <a:gdLst/>
              <a:ahLst/>
              <a:cxnLst/>
              <a:rect l="l" t="t" r="r" b="b"/>
              <a:pathLst>
                <a:path w="1544545" h="1042568">
                  <a:moveTo>
                    <a:pt x="0" y="0"/>
                  </a:moveTo>
                  <a:lnTo>
                    <a:pt x="1544544" y="0"/>
                  </a:lnTo>
                  <a:lnTo>
                    <a:pt x="1544544" y="1042568"/>
                  </a:lnTo>
                  <a:lnTo>
                    <a:pt x="0" y="1042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922128" y="4038716"/>
              <a:ext cx="7493294" cy="662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7"/>
                </a:lnSpc>
              </a:pPr>
              <a:r>
                <a:rPr lang="en-US" sz="2460" spc="11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Design for Myanmar sellers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0582" y="2704303"/>
              <a:ext cx="4877384" cy="714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41"/>
                </a:lnSpc>
              </a:pPr>
              <a:r>
                <a:rPr lang="en-US" sz="2660" b="1" spc="1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61137" y="7943551"/>
              <a:ext cx="4877384" cy="714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41"/>
                </a:lnSpc>
              </a:pPr>
              <a:r>
                <a:rPr lang="en-US" sz="2660" b="1" spc="1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Connected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94617" y="2835977"/>
              <a:ext cx="4877384" cy="714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41"/>
                </a:lnSpc>
              </a:pPr>
              <a:r>
                <a:rPr lang="en-US" sz="2660" b="1" spc="1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AI-Powered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8671" y="4038716"/>
              <a:ext cx="7493294" cy="662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7"/>
                </a:lnSpc>
              </a:pPr>
              <a:r>
                <a:rPr lang="en-US" sz="2460" spc="11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Chat into structured orders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46219" y="9578872"/>
              <a:ext cx="7493294" cy="662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7"/>
                </a:lnSpc>
              </a:pPr>
              <a:r>
                <a:rPr lang="en-US" sz="2460" spc="11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Practical tools with seller control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630" y="9616907"/>
              <a:ext cx="7493294" cy="662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7"/>
                </a:lnSpc>
              </a:pPr>
              <a:r>
                <a:rPr lang="en-US" sz="2460" spc="11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Order, payments, and profit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84695" y="8210316"/>
              <a:ext cx="2996498" cy="714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41"/>
                </a:lnSpc>
              </a:pPr>
              <a:r>
                <a:rPr lang="en-US" sz="2660" b="1" spc="1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Seller-First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00880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26" name="Freeform 26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1E3D">
                <a:alpha val="100000"/>
              </a:srgbClr>
            </a:gs>
            <a:gs pos="100000">
              <a:srgbClr val="0444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831" y="3812081"/>
            <a:ext cx="3712783" cy="5131983"/>
            <a:chOff x="0" y="0"/>
            <a:chExt cx="1250987" cy="17291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50987" cy="1729173"/>
            </a:xfrm>
            <a:custGeom>
              <a:avLst/>
              <a:gdLst/>
              <a:ahLst/>
              <a:cxnLst/>
              <a:rect l="l" t="t" r="r" b="b"/>
              <a:pathLst>
                <a:path w="1250987" h="1729173">
                  <a:moveTo>
                    <a:pt x="58386" y="0"/>
                  </a:moveTo>
                  <a:lnTo>
                    <a:pt x="1192602" y="0"/>
                  </a:lnTo>
                  <a:cubicBezTo>
                    <a:pt x="1208087" y="0"/>
                    <a:pt x="1222937" y="6151"/>
                    <a:pt x="1233887" y="17101"/>
                  </a:cubicBezTo>
                  <a:cubicBezTo>
                    <a:pt x="1244836" y="28050"/>
                    <a:pt x="1250987" y="42901"/>
                    <a:pt x="1250987" y="58386"/>
                  </a:cubicBezTo>
                  <a:lnTo>
                    <a:pt x="1250987" y="1670788"/>
                  </a:lnTo>
                  <a:cubicBezTo>
                    <a:pt x="1250987" y="1686272"/>
                    <a:pt x="1244836" y="1701123"/>
                    <a:pt x="1233887" y="1712073"/>
                  </a:cubicBezTo>
                  <a:cubicBezTo>
                    <a:pt x="1222937" y="1723022"/>
                    <a:pt x="1208087" y="1729173"/>
                    <a:pt x="1192602" y="1729173"/>
                  </a:cubicBezTo>
                  <a:lnTo>
                    <a:pt x="58386" y="1729173"/>
                  </a:lnTo>
                  <a:cubicBezTo>
                    <a:pt x="42901" y="1729173"/>
                    <a:pt x="28050" y="1723022"/>
                    <a:pt x="17101" y="1712073"/>
                  </a:cubicBezTo>
                  <a:cubicBezTo>
                    <a:pt x="6151" y="1701123"/>
                    <a:pt x="0" y="1686272"/>
                    <a:pt x="0" y="1670788"/>
                  </a:cubicBezTo>
                  <a:lnTo>
                    <a:pt x="0" y="58386"/>
                  </a:lnTo>
                  <a:cubicBezTo>
                    <a:pt x="0" y="42901"/>
                    <a:pt x="6151" y="28050"/>
                    <a:pt x="17101" y="17101"/>
                  </a:cubicBezTo>
                  <a:cubicBezTo>
                    <a:pt x="28050" y="6151"/>
                    <a:pt x="42901" y="0"/>
                    <a:pt x="58386" y="0"/>
                  </a:cubicBezTo>
                  <a:close/>
                </a:path>
              </a:pathLst>
            </a:custGeom>
            <a:solidFill>
              <a:srgbClr val="D9D9D9">
                <a:alpha val="52941"/>
              </a:srgbClr>
            </a:solidFill>
            <a:ln w="38100" cap="rnd">
              <a:solidFill>
                <a:srgbClr val="000000">
                  <a:alpha val="52941"/>
                </a:srgbClr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50987" cy="176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16766" y="2222526"/>
            <a:ext cx="1880913" cy="2417215"/>
            <a:chOff x="0" y="0"/>
            <a:chExt cx="791705" cy="10174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1705" cy="1017442"/>
            </a:xfrm>
            <a:custGeom>
              <a:avLst/>
              <a:gdLst/>
              <a:ahLst/>
              <a:cxnLst/>
              <a:rect l="l" t="t" r="r" b="b"/>
              <a:pathLst>
                <a:path w="791705" h="1017442">
                  <a:moveTo>
                    <a:pt x="395852" y="0"/>
                  </a:moveTo>
                  <a:cubicBezTo>
                    <a:pt x="177229" y="0"/>
                    <a:pt x="0" y="227762"/>
                    <a:pt x="0" y="508721"/>
                  </a:cubicBezTo>
                  <a:cubicBezTo>
                    <a:pt x="0" y="789680"/>
                    <a:pt x="177229" y="1017442"/>
                    <a:pt x="395852" y="1017442"/>
                  </a:cubicBezTo>
                  <a:cubicBezTo>
                    <a:pt x="614475" y="1017442"/>
                    <a:pt x="791705" y="789680"/>
                    <a:pt x="791705" y="508721"/>
                  </a:cubicBezTo>
                  <a:cubicBezTo>
                    <a:pt x="791705" y="227762"/>
                    <a:pt x="614475" y="0"/>
                    <a:pt x="395852" y="0"/>
                  </a:cubicBezTo>
                  <a:close/>
                </a:path>
              </a:pathLst>
            </a:custGeom>
            <a:blipFill>
              <a:blip r:embed="rId3"/>
              <a:stretch>
                <a:fillRect l="-1405" r="-1405"/>
              </a:stretch>
            </a:blipFill>
            <a:ln w="66675" cap="sq">
              <a:solidFill>
                <a:srgbClr val="274D7A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>
            <a:off x="4935186" y="1333397"/>
            <a:ext cx="89790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581864" y="3812081"/>
            <a:ext cx="3712783" cy="5131983"/>
            <a:chOff x="0" y="0"/>
            <a:chExt cx="1250987" cy="17291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0987" cy="1729173"/>
            </a:xfrm>
            <a:custGeom>
              <a:avLst/>
              <a:gdLst/>
              <a:ahLst/>
              <a:cxnLst/>
              <a:rect l="l" t="t" r="r" b="b"/>
              <a:pathLst>
                <a:path w="1250987" h="1729173">
                  <a:moveTo>
                    <a:pt x="58386" y="0"/>
                  </a:moveTo>
                  <a:lnTo>
                    <a:pt x="1192602" y="0"/>
                  </a:lnTo>
                  <a:cubicBezTo>
                    <a:pt x="1208087" y="0"/>
                    <a:pt x="1222937" y="6151"/>
                    <a:pt x="1233887" y="17101"/>
                  </a:cubicBezTo>
                  <a:cubicBezTo>
                    <a:pt x="1244836" y="28050"/>
                    <a:pt x="1250987" y="42901"/>
                    <a:pt x="1250987" y="58386"/>
                  </a:cubicBezTo>
                  <a:lnTo>
                    <a:pt x="1250987" y="1670788"/>
                  </a:lnTo>
                  <a:cubicBezTo>
                    <a:pt x="1250987" y="1686272"/>
                    <a:pt x="1244836" y="1701123"/>
                    <a:pt x="1233887" y="1712073"/>
                  </a:cubicBezTo>
                  <a:cubicBezTo>
                    <a:pt x="1222937" y="1723022"/>
                    <a:pt x="1208087" y="1729173"/>
                    <a:pt x="1192602" y="1729173"/>
                  </a:cubicBezTo>
                  <a:lnTo>
                    <a:pt x="58386" y="1729173"/>
                  </a:lnTo>
                  <a:cubicBezTo>
                    <a:pt x="42901" y="1729173"/>
                    <a:pt x="28050" y="1723022"/>
                    <a:pt x="17101" y="1712073"/>
                  </a:cubicBezTo>
                  <a:cubicBezTo>
                    <a:pt x="6151" y="1701123"/>
                    <a:pt x="0" y="1686272"/>
                    <a:pt x="0" y="1670788"/>
                  </a:cubicBezTo>
                  <a:lnTo>
                    <a:pt x="0" y="58386"/>
                  </a:lnTo>
                  <a:cubicBezTo>
                    <a:pt x="0" y="42901"/>
                    <a:pt x="6151" y="28050"/>
                    <a:pt x="17101" y="17101"/>
                  </a:cubicBezTo>
                  <a:cubicBezTo>
                    <a:pt x="28050" y="6151"/>
                    <a:pt x="42901" y="0"/>
                    <a:pt x="58386" y="0"/>
                  </a:cubicBezTo>
                  <a:close/>
                </a:path>
              </a:pathLst>
            </a:custGeom>
            <a:solidFill>
              <a:srgbClr val="D9D9D9">
                <a:alpha val="52941"/>
              </a:srgbClr>
            </a:solidFill>
            <a:ln w="38100" cap="rnd">
              <a:solidFill>
                <a:srgbClr val="000000">
                  <a:alpha val="52941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50987" cy="176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42347" y="3812081"/>
            <a:ext cx="3712783" cy="5131983"/>
            <a:chOff x="0" y="0"/>
            <a:chExt cx="1250987" cy="17291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0987" cy="1729173"/>
            </a:xfrm>
            <a:custGeom>
              <a:avLst/>
              <a:gdLst/>
              <a:ahLst/>
              <a:cxnLst/>
              <a:rect l="l" t="t" r="r" b="b"/>
              <a:pathLst>
                <a:path w="1250987" h="1729173">
                  <a:moveTo>
                    <a:pt x="58386" y="0"/>
                  </a:moveTo>
                  <a:lnTo>
                    <a:pt x="1192602" y="0"/>
                  </a:lnTo>
                  <a:cubicBezTo>
                    <a:pt x="1208087" y="0"/>
                    <a:pt x="1222937" y="6151"/>
                    <a:pt x="1233887" y="17101"/>
                  </a:cubicBezTo>
                  <a:cubicBezTo>
                    <a:pt x="1244836" y="28050"/>
                    <a:pt x="1250987" y="42901"/>
                    <a:pt x="1250987" y="58386"/>
                  </a:cubicBezTo>
                  <a:lnTo>
                    <a:pt x="1250987" y="1670788"/>
                  </a:lnTo>
                  <a:cubicBezTo>
                    <a:pt x="1250987" y="1686272"/>
                    <a:pt x="1244836" y="1701123"/>
                    <a:pt x="1233887" y="1712073"/>
                  </a:cubicBezTo>
                  <a:cubicBezTo>
                    <a:pt x="1222937" y="1723022"/>
                    <a:pt x="1208087" y="1729173"/>
                    <a:pt x="1192602" y="1729173"/>
                  </a:cubicBezTo>
                  <a:lnTo>
                    <a:pt x="58386" y="1729173"/>
                  </a:lnTo>
                  <a:cubicBezTo>
                    <a:pt x="42901" y="1729173"/>
                    <a:pt x="28050" y="1723022"/>
                    <a:pt x="17101" y="1712073"/>
                  </a:cubicBezTo>
                  <a:cubicBezTo>
                    <a:pt x="6151" y="1701123"/>
                    <a:pt x="0" y="1686272"/>
                    <a:pt x="0" y="1670788"/>
                  </a:cubicBezTo>
                  <a:lnTo>
                    <a:pt x="0" y="58386"/>
                  </a:lnTo>
                  <a:cubicBezTo>
                    <a:pt x="0" y="42901"/>
                    <a:pt x="6151" y="28050"/>
                    <a:pt x="17101" y="17101"/>
                  </a:cubicBezTo>
                  <a:cubicBezTo>
                    <a:pt x="28050" y="6151"/>
                    <a:pt x="42901" y="0"/>
                    <a:pt x="58386" y="0"/>
                  </a:cubicBezTo>
                  <a:close/>
                </a:path>
              </a:pathLst>
            </a:custGeom>
            <a:solidFill>
              <a:srgbClr val="D9D9D9">
                <a:alpha val="52941"/>
              </a:srgbClr>
            </a:solidFill>
            <a:ln w="38100" cap="rnd">
              <a:solidFill>
                <a:srgbClr val="000000">
                  <a:alpha val="52941"/>
                </a:srgbClr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50987" cy="176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291987" y="3812081"/>
            <a:ext cx="3712783" cy="5131983"/>
            <a:chOff x="0" y="0"/>
            <a:chExt cx="1250987" cy="17291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0987" cy="1729173"/>
            </a:xfrm>
            <a:custGeom>
              <a:avLst/>
              <a:gdLst/>
              <a:ahLst/>
              <a:cxnLst/>
              <a:rect l="l" t="t" r="r" b="b"/>
              <a:pathLst>
                <a:path w="1250987" h="1729173">
                  <a:moveTo>
                    <a:pt x="58386" y="0"/>
                  </a:moveTo>
                  <a:lnTo>
                    <a:pt x="1192602" y="0"/>
                  </a:lnTo>
                  <a:cubicBezTo>
                    <a:pt x="1208087" y="0"/>
                    <a:pt x="1222937" y="6151"/>
                    <a:pt x="1233887" y="17101"/>
                  </a:cubicBezTo>
                  <a:cubicBezTo>
                    <a:pt x="1244836" y="28050"/>
                    <a:pt x="1250987" y="42901"/>
                    <a:pt x="1250987" y="58386"/>
                  </a:cubicBezTo>
                  <a:lnTo>
                    <a:pt x="1250987" y="1670788"/>
                  </a:lnTo>
                  <a:cubicBezTo>
                    <a:pt x="1250987" y="1686272"/>
                    <a:pt x="1244836" y="1701123"/>
                    <a:pt x="1233887" y="1712073"/>
                  </a:cubicBezTo>
                  <a:cubicBezTo>
                    <a:pt x="1222937" y="1723022"/>
                    <a:pt x="1208087" y="1729173"/>
                    <a:pt x="1192602" y="1729173"/>
                  </a:cubicBezTo>
                  <a:lnTo>
                    <a:pt x="58386" y="1729173"/>
                  </a:lnTo>
                  <a:cubicBezTo>
                    <a:pt x="42901" y="1729173"/>
                    <a:pt x="28050" y="1723022"/>
                    <a:pt x="17101" y="1712073"/>
                  </a:cubicBezTo>
                  <a:cubicBezTo>
                    <a:pt x="6151" y="1701123"/>
                    <a:pt x="0" y="1686272"/>
                    <a:pt x="0" y="1670788"/>
                  </a:cubicBezTo>
                  <a:lnTo>
                    <a:pt x="0" y="58386"/>
                  </a:lnTo>
                  <a:cubicBezTo>
                    <a:pt x="0" y="42901"/>
                    <a:pt x="6151" y="28050"/>
                    <a:pt x="17101" y="17101"/>
                  </a:cubicBezTo>
                  <a:cubicBezTo>
                    <a:pt x="28050" y="6151"/>
                    <a:pt x="42901" y="0"/>
                    <a:pt x="58386" y="0"/>
                  </a:cubicBezTo>
                  <a:close/>
                </a:path>
              </a:pathLst>
            </a:custGeom>
            <a:solidFill>
              <a:srgbClr val="D9D9D9">
                <a:alpha val="52941"/>
              </a:srgbClr>
            </a:solidFill>
            <a:ln w="38100" cap="rnd">
              <a:solidFill>
                <a:srgbClr val="000000">
                  <a:alpha val="52941"/>
                </a:srgbClr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50987" cy="176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168348" y="2079651"/>
            <a:ext cx="1880913" cy="2417215"/>
            <a:chOff x="0" y="0"/>
            <a:chExt cx="791705" cy="10174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1705" cy="1017442"/>
            </a:xfrm>
            <a:custGeom>
              <a:avLst/>
              <a:gdLst/>
              <a:ahLst/>
              <a:cxnLst/>
              <a:rect l="l" t="t" r="r" b="b"/>
              <a:pathLst>
                <a:path w="791705" h="1017442">
                  <a:moveTo>
                    <a:pt x="395852" y="0"/>
                  </a:moveTo>
                  <a:cubicBezTo>
                    <a:pt x="177229" y="0"/>
                    <a:pt x="0" y="227762"/>
                    <a:pt x="0" y="508721"/>
                  </a:cubicBezTo>
                  <a:cubicBezTo>
                    <a:pt x="0" y="789680"/>
                    <a:pt x="177229" y="1017442"/>
                    <a:pt x="395852" y="1017442"/>
                  </a:cubicBezTo>
                  <a:cubicBezTo>
                    <a:pt x="614475" y="1017442"/>
                    <a:pt x="791705" y="789680"/>
                    <a:pt x="791705" y="508721"/>
                  </a:cubicBezTo>
                  <a:cubicBezTo>
                    <a:pt x="791705" y="227762"/>
                    <a:pt x="614475" y="0"/>
                    <a:pt x="395852" y="0"/>
                  </a:cubicBezTo>
                  <a:close/>
                </a:path>
              </a:pathLst>
            </a:custGeom>
            <a:blipFill>
              <a:blip r:embed="rId4"/>
              <a:stretch>
                <a:fillRect t="-1875" b="-1875"/>
              </a:stretch>
            </a:blipFill>
            <a:ln w="66675" cap="sq">
              <a:solidFill>
                <a:srgbClr val="274D7A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508859" y="2222526"/>
            <a:ext cx="1880913" cy="2417215"/>
            <a:chOff x="0" y="0"/>
            <a:chExt cx="791705" cy="10174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91705" cy="1017442"/>
            </a:xfrm>
            <a:custGeom>
              <a:avLst/>
              <a:gdLst/>
              <a:ahLst/>
              <a:cxnLst/>
              <a:rect l="l" t="t" r="r" b="b"/>
              <a:pathLst>
                <a:path w="791705" h="1017442">
                  <a:moveTo>
                    <a:pt x="395852" y="0"/>
                  </a:moveTo>
                  <a:cubicBezTo>
                    <a:pt x="177229" y="0"/>
                    <a:pt x="0" y="227762"/>
                    <a:pt x="0" y="508721"/>
                  </a:cubicBezTo>
                  <a:cubicBezTo>
                    <a:pt x="0" y="789680"/>
                    <a:pt x="177229" y="1017442"/>
                    <a:pt x="395852" y="1017442"/>
                  </a:cubicBezTo>
                  <a:cubicBezTo>
                    <a:pt x="614475" y="1017442"/>
                    <a:pt x="791705" y="789680"/>
                    <a:pt x="791705" y="508721"/>
                  </a:cubicBezTo>
                  <a:cubicBezTo>
                    <a:pt x="791705" y="227762"/>
                    <a:pt x="614475" y="0"/>
                    <a:pt x="395852" y="0"/>
                  </a:cubicBezTo>
                  <a:close/>
                </a:path>
              </a:pathLst>
            </a:custGeom>
            <a:blipFill>
              <a:blip r:embed="rId5"/>
              <a:stretch>
                <a:fillRect l="-482" t="-2125" b="-2125"/>
              </a:stretch>
            </a:blipFill>
            <a:ln w="66675" cap="sq">
              <a:solidFill>
                <a:srgbClr val="274D7A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858282" y="2222526"/>
            <a:ext cx="1880913" cy="2417215"/>
            <a:chOff x="0" y="0"/>
            <a:chExt cx="791705" cy="101744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91705" cy="1017442"/>
            </a:xfrm>
            <a:custGeom>
              <a:avLst/>
              <a:gdLst/>
              <a:ahLst/>
              <a:cxnLst/>
              <a:rect l="l" t="t" r="r" b="b"/>
              <a:pathLst>
                <a:path w="791705" h="1017442">
                  <a:moveTo>
                    <a:pt x="395852" y="0"/>
                  </a:moveTo>
                  <a:cubicBezTo>
                    <a:pt x="177229" y="0"/>
                    <a:pt x="0" y="227762"/>
                    <a:pt x="0" y="508721"/>
                  </a:cubicBezTo>
                  <a:cubicBezTo>
                    <a:pt x="0" y="789680"/>
                    <a:pt x="177229" y="1017442"/>
                    <a:pt x="395852" y="1017442"/>
                  </a:cubicBezTo>
                  <a:cubicBezTo>
                    <a:pt x="614475" y="1017442"/>
                    <a:pt x="791705" y="789680"/>
                    <a:pt x="791705" y="508721"/>
                  </a:cubicBezTo>
                  <a:cubicBezTo>
                    <a:pt x="791705" y="227762"/>
                    <a:pt x="614475" y="0"/>
                    <a:pt x="395852" y="0"/>
                  </a:cubicBezTo>
                  <a:close/>
                </a:path>
              </a:pathLst>
            </a:custGeom>
            <a:blipFill>
              <a:blip r:embed="rId6"/>
              <a:stretch>
                <a:fillRect l="-1405" r="-1405"/>
              </a:stretch>
            </a:blipFill>
            <a:ln w="66675" cap="sq">
              <a:solidFill>
                <a:srgbClr val="274D7A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3226553" y="438150"/>
            <a:ext cx="12396338" cy="76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550" b="1" spc="-300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MEET OUR TEAM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7708" y="4919939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Yoon Yati Linn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81864" y="4919939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Myint Mo Phoo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41160" y="4919939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Kyawt Swe Zin Thwin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86020" y="4919939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Myat Hmue Hay Thi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7708" y="5435917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Full Stack Developer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81864" y="5435917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UX Designer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403060" y="5435917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Manager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86020" y="5435917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 (PO)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19928" y="6035440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 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84726" y="6558209"/>
            <a:ext cx="3411489" cy="201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789" lvl="1" indent="-229394" algn="l">
              <a:lnSpc>
                <a:spcPts val="2683"/>
              </a:lnSpc>
              <a:buFont typeface="Arial"/>
              <a:buChar char="•"/>
            </a:pPr>
            <a:r>
              <a:rPr lang="en-US" sz="2125" b="1" spc="-14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Academic programming projects</a:t>
            </a:r>
          </a:p>
          <a:p>
            <a:pPr marL="458789" lvl="1" indent="-229394" algn="l">
              <a:lnSpc>
                <a:spcPts val="2683"/>
              </a:lnSpc>
              <a:buFont typeface="Arial"/>
              <a:buChar char="•"/>
            </a:pPr>
            <a:r>
              <a:rPr lang="en-US" sz="2125" b="1" spc="-14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Third Prize at YTU HACKATOM 2025</a:t>
            </a:r>
          </a:p>
          <a:p>
            <a:pPr marL="458789" lvl="1" indent="-229394" algn="l">
              <a:lnSpc>
                <a:spcPts val="2683"/>
              </a:lnSpc>
              <a:buFont typeface="Arial"/>
              <a:buChar char="•"/>
            </a:pPr>
            <a:r>
              <a:rPr lang="en-US" sz="2125" b="1" spc="-14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Developer of movie forum website at CVWO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307134" y="6598339"/>
            <a:ext cx="3373389" cy="2011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0871" lvl="1" indent="-230435" algn="l">
              <a:lnSpc>
                <a:spcPts val="2696"/>
              </a:lnSpc>
              <a:buFont typeface="Arial"/>
              <a:buChar char="•"/>
            </a:pPr>
            <a:r>
              <a:rPr lang="en-US" sz="2134" b="1" spc="-14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Academic programming projects</a:t>
            </a:r>
          </a:p>
          <a:p>
            <a:pPr marL="460871" lvl="1" indent="-230435" algn="l">
              <a:lnSpc>
                <a:spcPts val="2696"/>
              </a:lnSpc>
              <a:buFont typeface="Arial"/>
              <a:buChar char="•"/>
            </a:pPr>
            <a:r>
              <a:rPr lang="en-US" sz="2134" b="1" spc="-14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Third Prize at YTU HACKATOM 2025</a:t>
            </a:r>
          </a:p>
          <a:p>
            <a:pPr marL="460871" lvl="1" indent="-230435" algn="l">
              <a:lnSpc>
                <a:spcPts val="2696"/>
              </a:lnSpc>
              <a:buFont typeface="Arial"/>
              <a:buChar char="•"/>
            </a:pPr>
            <a:r>
              <a:rPr lang="en-US" sz="2134" b="1" spc="-14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Manager of Wear Cycle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23154" y="6424459"/>
            <a:ext cx="3771493" cy="227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7199" lvl="1" indent="-218600" algn="l">
              <a:lnSpc>
                <a:spcPts val="2557"/>
              </a:lnSpc>
              <a:buFont typeface="Arial"/>
              <a:buChar char="•"/>
            </a:pPr>
            <a:r>
              <a:rPr lang="en-US" sz="2025" b="1" spc="-13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Academic programming projects</a:t>
            </a:r>
          </a:p>
          <a:p>
            <a:pPr marL="437199" lvl="1" indent="-218600" algn="l">
              <a:lnSpc>
                <a:spcPts val="2557"/>
              </a:lnSpc>
              <a:buFont typeface="Arial"/>
              <a:buChar char="•"/>
            </a:pPr>
            <a:r>
              <a:rPr lang="en-US" sz="2025" b="1" spc="-13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Third Prize at the 100th Engineering festival hackathon 2024</a:t>
            </a:r>
          </a:p>
          <a:p>
            <a:pPr marL="437199" lvl="1" indent="-218600" algn="l">
              <a:lnSpc>
                <a:spcPts val="2557"/>
              </a:lnSpc>
              <a:buFont typeface="Arial"/>
              <a:buChar char="•"/>
            </a:pPr>
            <a:r>
              <a:rPr lang="en-US" sz="2025" b="1" spc="-13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one of the Top 3 finalist in NUS CVWO project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0733" y="6567734"/>
            <a:ext cx="3582882" cy="2203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2346" lvl="1" indent="-216173" algn="l">
              <a:lnSpc>
                <a:spcPts val="2529"/>
              </a:lnSpc>
              <a:buFont typeface="Arial"/>
              <a:buChar char="•"/>
            </a:pPr>
            <a:r>
              <a:rPr lang="en-US" sz="2002" b="1" spc="-132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Finalist Nominee for DEEP 2026</a:t>
            </a:r>
          </a:p>
          <a:p>
            <a:pPr marL="432346" lvl="1" indent="-216173" algn="l">
              <a:lnSpc>
                <a:spcPts val="2529"/>
              </a:lnSpc>
              <a:buFont typeface="Arial"/>
              <a:buChar char="•"/>
            </a:pPr>
            <a:r>
              <a:rPr lang="en-US" sz="2002" b="1" spc="-132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Second Prize Winner at UIT Innovative Hackathon </a:t>
            </a:r>
          </a:p>
          <a:p>
            <a:pPr marL="432346" lvl="1" indent="-216173" algn="l">
              <a:lnSpc>
                <a:spcPts val="2529"/>
              </a:lnSpc>
              <a:buFont typeface="Arial"/>
              <a:buChar char="•"/>
            </a:pPr>
            <a:r>
              <a:rPr lang="en-US" sz="2002" b="1" spc="-132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Developer of KuuNyi-AI (Order Management for SME Online Shops)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7708" y="5969050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  </a:t>
            </a:r>
          </a:p>
        </p:txBody>
      </p:sp>
      <p:sp>
        <p:nvSpPr>
          <p:cNvPr id="40" name="AutoShape 40"/>
          <p:cNvSpPr/>
          <p:nvPr/>
        </p:nvSpPr>
        <p:spPr>
          <a:xfrm>
            <a:off x="1441346" y="5978290"/>
            <a:ext cx="26986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41" name="AutoShape 41"/>
          <p:cNvSpPr/>
          <p:nvPr/>
        </p:nvSpPr>
        <p:spPr>
          <a:xfrm>
            <a:off x="10368688" y="5940190"/>
            <a:ext cx="26986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42" name="AutoShape 42"/>
          <p:cNvSpPr/>
          <p:nvPr/>
        </p:nvSpPr>
        <p:spPr>
          <a:xfrm>
            <a:off x="6059595" y="5921140"/>
            <a:ext cx="26986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5622236" y="5921140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 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307134" y="6035440"/>
            <a:ext cx="3411489" cy="4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450" b="1" spc="-1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  </a:t>
            </a:r>
          </a:p>
        </p:txBody>
      </p:sp>
      <p:sp>
        <p:nvSpPr>
          <p:cNvPr id="45" name="AutoShape 45"/>
          <p:cNvSpPr/>
          <p:nvPr/>
        </p:nvSpPr>
        <p:spPr>
          <a:xfrm>
            <a:off x="14759499" y="5959240"/>
            <a:ext cx="26986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46" name="TextBox 46"/>
          <p:cNvSpPr txBox="1"/>
          <p:nvPr/>
        </p:nvSpPr>
        <p:spPr>
          <a:xfrm>
            <a:off x="3376262" y="1607154"/>
            <a:ext cx="12396338" cy="4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850" b="1" spc="-188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You Dream of Growing Your Business. We Build the AI to Grow With You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006661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827966" y="9594430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49" name="Freeform 49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1E3D">
                <a:alpha val="100000"/>
              </a:srgbClr>
            </a:gs>
            <a:gs pos="100000">
              <a:srgbClr val="0444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18516" y="3942095"/>
            <a:ext cx="4062893" cy="4345341"/>
          </a:xfrm>
          <a:custGeom>
            <a:avLst/>
            <a:gdLst/>
            <a:ahLst/>
            <a:cxnLst/>
            <a:rect l="l" t="t" r="r" b="b"/>
            <a:pathLst>
              <a:path w="4062893" h="4345341">
                <a:moveTo>
                  <a:pt x="0" y="0"/>
                </a:moveTo>
                <a:lnTo>
                  <a:pt x="4062894" y="0"/>
                </a:lnTo>
                <a:lnTo>
                  <a:pt x="4062894" y="4345341"/>
                </a:lnTo>
                <a:lnTo>
                  <a:pt x="0" y="4345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20272" y="7025329"/>
            <a:ext cx="2322276" cy="2524214"/>
          </a:xfrm>
          <a:custGeom>
            <a:avLst/>
            <a:gdLst/>
            <a:ahLst/>
            <a:cxnLst/>
            <a:rect l="l" t="t" r="r" b="b"/>
            <a:pathLst>
              <a:path w="2322276" h="2524214">
                <a:moveTo>
                  <a:pt x="0" y="0"/>
                </a:moveTo>
                <a:lnTo>
                  <a:pt x="2322276" y="0"/>
                </a:lnTo>
                <a:lnTo>
                  <a:pt x="2322276" y="2524214"/>
                </a:lnTo>
                <a:lnTo>
                  <a:pt x="0" y="25242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49780" y="3336583"/>
            <a:ext cx="12400183" cy="1657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26"/>
              </a:lnSpc>
            </a:pPr>
            <a:r>
              <a:rPr lang="en-US" sz="15752" dirty="0">
                <a:solidFill>
                  <a:schemeClr val="accent1">
                    <a:lumMod val="75000"/>
                  </a:schemeClr>
                </a:solidFill>
                <a:latin typeface="Genty"/>
                <a:ea typeface="Genty"/>
                <a:cs typeface="Genty"/>
                <a:sym typeface="Genty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934336" y="5028927"/>
            <a:ext cx="17949676" cy="53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sz="5507" spc="-55">
                <a:solidFill>
                  <a:srgbClr val="203A7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See you on the Final Day 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24423" y="9628079"/>
            <a:ext cx="3363577" cy="44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129" b="1">
                <a:solidFill>
                  <a:srgbClr val="014D86"/>
                </a:solidFill>
                <a:latin typeface="Poppins Bold"/>
                <a:ea typeface="Poppins Bold"/>
                <a:cs typeface="Poppins Bold"/>
                <a:sym typeface="Poppins Bold"/>
              </a:rPr>
              <a:t>Into the AI ocean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2732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id="9" name="Freeform 9"/>
          <p:cNvSpPr/>
          <p:nvPr/>
        </p:nvSpPr>
        <p:spPr>
          <a:xfrm>
            <a:off x="16838347" y="68837"/>
            <a:ext cx="1449653" cy="1449653"/>
          </a:xfrm>
          <a:custGeom>
            <a:avLst/>
            <a:gdLst/>
            <a:ahLst/>
            <a:cxnLst/>
            <a:rect l="l" t="t" r="r" b="b"/>
            <a:pathLst>
              <a:path w="1449653" h="1449653">
                <a:moveTo>
                  <a:pt x="0" y="0"/>
                </a:moveTo>
                <a:lnTo>
                  <a:pt x="1449653" y="0"/>
                </a:lnTo>
                <a:lnTo>
                  <a:pt x="1449653" y="1449653"/>
                </a:lnTo>
                <a:lnTo>
                  <a:pt x="0" y="1449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1836947" cy="1407514"/>
          </a:xfrm>
          <a:custGeom>
            <a:avLst/>
            <a:gdLst/>
            <a:ahLst/>
            <a:cxnLst/>
            <a:rect l="l" t="t" r="r" b="b"/>
            <a:pathLst>
              <a:path w="1836947" h="1407514">
                <a:moveTo>
                  <a:pt x="0" y="0"/>
                </a:moveTo>
                <a:lnTo>
                  <a:pt x="1836947" y="0"/>
                </a:lnTo>
                <a:lnTo>
                  <a:pt x="1836947" y="1407514"/>
                </a:lnTo>
                <a:lnTo>
                  <a:pt x="0" y="1407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624</Words>
  <Application>Microsoft Office PowerPoint</Application>
  <PresentationFormat>Custom</PresentationFormat>
  <Paragraphs>143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Genty</vt:lpstr>
      <vt:lpstr>Canva Sans</vt:lpstr>
      <vt:lpstr>Poppins</vt:lpstr>
      <vt:lpstr>Calibri</vt:lpstr>
      <vt:lpstr>Cooper BT Light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တူတူတွက်မယ်.pptx</dc:title>
  <cp:lastModifiedBy>USER</cp:lastModifiedBy>
  <cp:revision>2</cp:revision>
  <dcterms:created xsi:type="dcterms:W3CDTF">2006-08-16T00:00:00Z</dcterms:created>
  <dcterms:modified xsi:type="dcterms:W3CDTF">2026-10-23T10:22:50Z</dcterms:modified>
  <dc:identifier>DAHYpw5lE2U</dc:identifier>
</cp:coreProperties>
</file>